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handoutMasterIdLst>
    <p:handoutMasterId r:id="rId14"/>
  </p:handoutMasterIdLst>
  <p:sldIdLst>
    <p:sldId id="256" r:id="rId2"/>
    <p:sldId id="257" r:id="rId3"/>
    <p:sldId id="318" r:id="rId4"/>
    <p:sldId id="319" r:id="rId5"/>
    <p:sldId id="320" r:id="rId6"/>
    <p:sldId id="324" r:id="rId7"/>
    <p:sldId id="325" r:id="rId8"/>
    <p:sldId id="321" r:id="rId9"/>
    <p:sldId id="322" r:id="rId10"/>
    <p:sldId id="323" r:id="rId11"/>
    <p:sldId id="317" r:id="rId12"/>
  </p:sldIdLst>
  <p:sldSz cx="13249275" cy="8208963"/>
  <p:notesSz cx="6858000" cy="9144000"/>
  <p:defaultTextStyle>
    <a:defPPr>
      <a:defRPr lang="en-US"/>
    </a:defPPr>
    <a:lvl1pPr marL="0" algn="l" defTabSz="1174842" rtl="0" eaLnBrk="1" latinLnBrk="0" hangingPunct="1">
      <a:defRPr sz="2300" kern="1200">
        <a:solidFill>
          <a:schemeClr val="tx1"/>
        </a:solidFill>
        <a:latin typeface="+mn-lt"/>
        <a:ea typeface="+mn-ea"/>
        <a:cs typeface="+mn-cs"/>
      </a:defRPr>
    </a:lvl1pPr>
    <a:lvl2pPr marL="587421" algn="l" defTabSz="1174842" rtl="0" eaLnBrk="1" latinLnBrk="0" hangingPunct="1">
      <a:defRPr sz="2300" kern="1200">
        <a:solidFill>
          <a:schemeClr val="tx1"/>
        </a:solidFill>
        <a:latin typeface="+mn-lt"/>
        <a:ea typeface="+mn-ea"/>
        <a:cs typeface="+mn-cs"/>
      </a:defRPr>
    </a:lvl2pPr>
    <a:lvl3pPr marL="1174842" algn="l" defTabSz="1174842" rtl="0" eaLnBrk="1" latinLnBrk="0" hangingPunct="1">
      <a:defRPr sz="2300" kern="1200">
        <a:solidFill>
          <a:schemeClr val="tx1"/>
        </a:solidFill>
        <a:latin typeface="+mn-lt"/>
        <a:ea typeface="+mn-ea"/>
        <a:cs typeface="+mn-cs"/>
      </a:defRPr>
    </a:lvl3pPr>
    <a:lvl4pPr marL="1762261" algn="l" defTabSz="1174842" rtl="0" eaLnBrk="1" latinLnBrk="0" hangingPunct="1">
      <a:defRPr sz="2300" kern="1200">
        <a:solidFill>
          <a:schemeClr val="tx1"/>
        </a:solidFill>
        <a:latin typeface="+mn-lt"/>
        <a:ea typeface="+mn-ea"/>
        <a:cs typeface="+mn-cs"/>
      </a:defRPr>
    </a:lvl4pPr>
    <a:lvl5pPr marL="2349682" algn="l" defTabSz="1174842" rtl="0" eaLnBrk="1" latinLnBrk="0" hangingPunct="1">
      <a:defRPr sz="2300" kern="1200">
        <a:solidFill>
          <a:schemeClr val="tx1"/>
        </a:solidFill>
        <a:latin typeface="+mn-lt"/>
        <a:ea typeface="+mn-ea"/>
        <a:cs typeface="+mn-cs"/>
      </a:defRPr>
    </a:lvl5pPr>
    <a:lvl6pPr marL="2937103" algn="l" defTabSz="1174842" rtl="0" eaLnBrk="1" latinLnBrk="0" hangingPunct="1">
      <a:defRPr sz="2300" kern="1200">
        <a:solidFill>
          <a:schemeClr val="tx1"/>
        </a:solidFill>
        <a:latin typeface="+mn-lt"/>
        <a:ea typeface="+mn-ea"/>
        <a:cs typeface="+mn-cs"/>
      </a:defRPr>
    </a:lvl6pPr>
    <a:lvl7pPr marL="3524524" algn="l" defTabSz="1174842" rtl="0" eaLnBrk="1" latinLnBrk="0" hangingPunct="1">
      <a:defRPr sz="2300" kern="1200">
        <a:solidFill>
          <a:schemeClr val="tx1"/>
        </a:solidFill>
        <a:latin typeface="+mn-lt"/>
        <a:ea typeface="+mn-ea"/>
        <a:cs typeface="+mn-cs"/>
      </a:defRPr>
    </a:lvl7pPr>
    <a:lvl8pPr marL="4111945" algn="l" defTabSz="1174842" rtl="0" eaLnBrk="1" latinLnBrk="0" hangingPunct="1">
      <a:defRPr sz="2300" kern="1200">
        <a:solidFill>
          <a:schemeClr val="tx1"/>
        </a:solidFill>
        <a:latin typeface="+mn-lt"/>
        <a:ea typeface="+mn-ea"/>
        <a:cs typeface="+mn-cs"/>
      </a:defRPr>
    </a:lvl8pPr>
    <a:lvl9pPr marL="4699364" algn="l" defTabSz="1174842" rtl="0" eaLnBrk="1" latinLnBrk="0" hangingPunct="1">
      <a:defRPr sz="2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86">
          <p15:clr>
            <a:srgbClr val="A4A3A4"/>
          </p15:clr>
        </p15:guide>
        <p15:guide id="2" pos="417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0" autoAdjust="0"/>
    <p:restoredTop sz="94616" autoAdjust="0"/>
  </p:normalViewPr>
  <p:slideViewPr>
    <p:cSldViewPr>
      <p:cViewPr varScale="1">
        <p:scale>
          <a:sx n="76" d="100"/>
          <a:sy n="76" d="100"/>
        </p:scale>
        <p:origin x="662" y="72"/>
      </p:cViewPr>
      <p:guideLst>
        <p:guide orient="horz" pos="2586"/>
        <p:guide pos="417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7" d="100"/>
          <a:sy n="47" d="100"/>
        </p:scale>
        <p:origin x="-2696" y="-6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C198617-6044-49B0-85CA-920C7AF7B7C6}" type="datetimeFigureOut">
              <a:rPr lang="en-US" smtClean="0"/>
              <a:pPr/>
              <a:t>9/6/2025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8169427-53AA-4C70-A44B-182BDF165E25}" type="slidenum">
              <a:rPr lang="en-US" smtClean="0"/>
              <a:pPr/>
              <a:t>‹#›</a:t>
            </a:fld>
            <a:endParaRPr lang="en-US" dirty="0"/>
          </a:p>
        </p:txBody>
      </p:sp>
    </p:spTree>
    <p:extLst>
      <p:ext uri="{BB962C8B-B14F-4D97-AF65-F5344CB8AC3E}">
        <p14:creationId xmlns:p14="http://schemas.microsoft.com/office/powerpoint/2010/main" val="1798925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E1F20EF-CDC5-44A5-9FE5-ADCA7F6FC3FA}" type="datetimeFigureOut">
              <a:rPr lang="en-US" smtClean="0"/>
              <a:pPr/>
              <a:t>9/6/2025</a:t>
            </a:fld>
            <a:endParaRPr lang="en-US" dirty="0"/>
          </a:p>
        </p:txBody>
      </p:sp>
      <p:sp>
        <p:nvSpPr>
          <p:cNvPr id="4" name="Slide Image Placeholder 3"/>
          <p:cNvSpPr>
            <a:spLocks noGrp="1" noRot="1" noChangeAspect="1"/>
          </p:cNvSpPr>
          <p:nvPr>
            <p:ph type="sldImg" idx="2"/>
          </p:nvPr>
        </p:nvSpPr>
        <p:spPr>
          <a:xfrm>
            <a:off x="661988" y="685800"/>
            <a:ext cx="55340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399ABCE-5995-4C0B-85B0-A94E0DEF7190}" type="slidenum">
              <a:rPr lang="en-US" smtClean="0"/>
              <a:pPr/>
              <a:t>‹#›</a:t>
            </a:fld>
            <a:endParaRPr lang="en-US" dirty="0"/>
          </a:p>
        </p:txBody>
      </p:sp>
    </p:spTree>
    <p:extLst>
      <p:ext uri="{BB962C8B-B14F-4D97-AF65-F5344CB8AC3E}">
        <p14:creationId xmlns:p14="http://schemas.microsoft.com/office/powerpoint/2010/main" val="471242652"/>
      </p:ext>
    </p:extLst>
  </p:cSld>
  <p:clrMap bg1="lt1" tx1="dk1" bg2="lt2" tx2="dk2" accent1="accent1" accent2="accent2" accent3="accent3" accent4="accent4" accent5="accent5" accent6="accent6" hlink="hlink" folHlink="folHlink"/>
  <p:notesStyle>
    <a:lvl1pPr marL="0" algn="l" defTabSz="1174842" rtl="0" eaLnBrk="1" latinLnBrk="0" hangingPunct="1">
      <a:defRPr sz="1600" kern="1200">
        <a:solidFill>
          <a:schemeClr val="tx1"/>
        </a:solidFill>
        <a:latin typeface="+mn-lt"/>
        <a:ea typeface="+mn-ea"/>
        <a:cs typeface="+mn-cs"/>
      </a:defRPr>
    </a:lvl1pPr>
    <a:lvl2pPr marL="587421" algn="l" defTabSz="1174842" rtl="0" eaLnBrk="1" latinLnBrk="0" hangingPunct="1">
      <a:defRPr sz="1600" kern="1200">
        <a:solidFill>
          <a:schemeClr val="tx1"/>
        </a:solidFill>
        <a:latin typeface="+mn-lt"/>
        <a:ea typeface="+mn-ea"/>
        <a:cs typeface="+mn-cs"/>
      </a:defRPr>
    </a:lvl2pPr>
    <a:lvl3pPr marL="1174842" algn="l" defTabSz="1174842" rtl="0" eaLnBrk="1" latinLnBrk="0" hangingPunct="1">
      <a:defRPr sz="1600" kern="1200">
        <a:solidFill>
          <a:schemeClr val="tx1"/>
        </a:solidFill>
        <a:latin typeface="+mn-lt"/>
        <a:ea typeface="+mn-ea"/>
        <a:cs typeface="+mn-cs"/>
      </a:defRPr>
    </a:lvl3pPr>
    <a:lvl4pPr marL="1762261" algn="l" defTabSz="1174842" rtl="0" eaLnBrk="1" latinLnBrk="0" hangingPunct="1">
      <a:defRPr sz="1600" kern="1200">
        <a:solidFill>
          <a:schemeClr val="tx1"/>
        </a:solidFill>
        <a:latin typeface="+mn-lt"/>
        <a:ea typeface="+mn-ea"/>
        <a:cs typeface="+mn-cs"/>
      </a:defRPr>
    </a:lvl4pPr>
    <a:lvl5pPr marL="2349682" algn="l" defTabSz="1174842" rtl="0" eaLnBrk="1" latinLnBrk="0" hangingPunct="1">
      <a:defRPr sz="1600" kern="1200">
        <a:solidFill>
          <a:schemeClr val="tx1"/>
        </a:solidFill>
        <a:latin typeface="+mn-lt"/>
        <a:ea typeface="+mn-ea"/>
        <a:cs typeface="+mn-cs"/>
      </a:defRPr>
    </a:lvl5pPr>
    <a:lvl6pPr marL="2937103" algn="l" defTabSz="1174842" rtl="0" eaLnBrk="1" latinLnBrk="0" hangingPunct="1">
      <a:defRPr sz="1600" kern="1200">
        <a:solidFill>
          <a:schemeClr val="tx1"/>
        </a:solidFill>
        <a:latin typeface="+mn-lt"/>
        <a:ea typeface="+mn-ea"/>
        <a:cs typeface="+mn-cs"/>
      </a:defRPr>
    </a:lvl6pPr>
    <a:lvl7pPr marL="3524524" algn="l" defTabSz="1174842" rtl="0" eaLnBrk="1" latinLnBrk="0" hangingPunct="1">
      <a:defRPr sz="1600" kern="1200">
        <a:solidFill>
          <a:schemeClr val="tx1"/>
        </a:solidFill>
        <a:latin typeface="+mn-lt"/>
        <a:ea typeface="+mn-ea"/>
        <a:cs typeface="+mn-cs"/>
      </a:defRPr>
    </a:lvl7pPr>
    <a:lvl8pPr marL="4111945" algn="l" defTabSz="1174842" rtl="0" eaLnBrk="1" latinLnBrk="0" hangingPunct="1">
      <a:defRPr sz="1600" kern="1200">
        <a:solidFill>
          <a:schemeClr val="tx1"/>
        </a:solidFill>
        <a:latin typeface="+mn-lt"/>
        <a:ea typeface="+mn-ea"/>
        <a:cs typeface="+mn-cs"/>
      </a:defRPr>
    </a:lvl8pPr>
    <a:lvl9pPr marL="4699364" algn="l" defTabSz="1174842"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1988" y="685800"/>
            <a:ext cx="55340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399ABCE-5995-4C0B-85B0-A94E0DEF7190}" type="slidenum">
              <a:rPr lang="en-US" smtClean="0"/>
              <a:pPr/>
              <a:t>1</a:t>
            </a:fld>
            <a:endParaRPr lang="en-US" dirty="0"/>
          </a:p>
        </p:txBody>
      </p:sp>
    </p:spTree>
    <p:extLst>
      <p:ext uri="{BB962C8B-B14F-4D97-AF65-F5344CB8AC3E}">
        <p14:creationId xmlns:p14="http://schemas.microsoft.com/office/powerpoint/2010/main" val="34831514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2" y="7334863"/>
            <a:ext cx="13249275" cy="874102"/>
          </a:xfrm>
          <a:prstGeom prst="rect">
            <a:avLst/>
          </a:prstGeom>
          <a:noFill/>
          <a:ln w="9525">
            <a:noFill/>
            <a:miter lim="800000"/>
            <a:headEnd/>
            <a:tailEnd/>
          </a:ln>
        </p:spPr>
      </p:pic>
      <p:sp>
        <p:nvSpPr>
          <p:cNvPr id="3" name="Rectangle 3"/>
          <p:cNvSpPr>
            <a:spLocks noChangeArrowheads="1"/>
          </p:cNvSpPr>
          <p:nvPr/>
        </p:nvSpPr>
        <p:spPr bwMode="auto">
          <a:xfrm>
            <a:off x="2" y="184324"/>
            <a:ext cx="13249275" cy="1846001"/>
          </a:xfrm>
          <a:prstGeom prst="rect">
            <a:avLst/>
          </a:prstGeom>
          <a:noFill/>
          <a:ln w="9525">
            <a:noFill/>
            <a:miter lim="800000"/>
            <a:headEnd/>
            <a:tailEnd/>
          </a:ln>
        </p:spPr>
        <p:txBody>
          <a:bodyPr lIns="117484" tIns="58742" rIns="117484" bIns="58742">
            <a:spAutoFit/>
          </a:bodyPr>
          <a:lstStyle/>
          <a:p>
            <a:pPr algn="ctr" eaLnBrk="1" hangingPunct="1"/>
            <a:r>
              <a:rPr lang="en-US" sz="11300" dirty="0"/>
              <a:t>SUBJECT NAME</a:t>
            </a:r>
            <a:endParaRPr lang="en-IN" sz="11300" dirty="0"/>
          </a:p>
        </p:txBody>
      </p:sp>
      <p:sp>
        <p:nvSpPr>
          <p:cNvPr id="4" name="Title 1">
            <a:extLst>
              <a:ext uri="{FF2B5EF4-FFF2-40B4-BE49-F238E27FC236}">
                <a16:creationId xmlns:a16="http://schemas.microsoft.com/office/drawing/2014/main" id="{1C5A3306-8879-4AF8-9AD2-3119B695EB3A}"/>
              </a:ext>
            </a:extLst>
          </p:cNvPr>
          <p:cNvSpPr txBox="1">
            <a:spLocks/>
          </p:cNvSpPr>
          <p:nvPr/>
        </p:nvSpPr>
        <p:spPr>
          <a:xfrm>
            <a:off x="933316" y="1915426"/>
            <a:ext cx="11141122" cy="777192"/>
          </a:xfrm>
          <a:prstGeom prst="rect">
            <a:avLst/>
          </a:prstGeom>
        </p:spPr>
        <p:txBody>
          <a:bodyPr lIns="117484" tIns="58742" rIns="117484" bIns="58742"/>
          <a:lstStyle>
            <a:lvl1pPr algn="ctr" defTabSz="853410" rtl="0" eaLnBrk="1" latinLnBrk="0" hangingPunct="1">
              <a:lnSpc>
                <a:spcPct val="90000"/>
              </a:lnSpc>
              <a:spcBef>
                <a:spcPct val="0"/>
              </a:spcBef>
              <a:buNone/>
              <a:defRPr sz="4107" kern="1200">
                <a:solidFill>
                  <a:schemeClr val="tx1"/>
                </a:solidFill>
                <a:latin typeface="+mj-lt"/>
                <a:ea typeface="+mj-ea"/>
                <a:cs typeface="+mj-cs"/>
              </a:defRPr>
            </a:lvl1pPr>
          </a:lstStyle>
          <a:p>
            <a:pPr fontAlgn="auto">
              <a:spcAft>
                <a:spcPts val="0"/>
              </a:spcAft>
              <a:defRPr/>
            </a:pPr>
            <a:r>
              <a:rPr lang="en-US" b="1" dirty="0"/>
              <a:t>Topic</a:t>
            </a:r>
            <a:endParaRPr lang="en-IN" b="1" dirty="0"/>
          </a:p>
        </p:txBody>
      </p:sp>
      <p:sp>
        <p:nvSpPr>
          <p:cNvPr id="5" name="Title 1">
            <a:extLst>
              <a:ext uri="{FF2B5EF4-FFF2-40B4-BE49-F238E27FC236}">
                <a16:creationId xmlns:a16="http://schemas.microsoft.com/office/drawing/2014/main" id="{8F60D2A9-1FE2-47C3-AC73-F93457D8AFC1}"/>
              </a:ext>
            </a:extLst>
          </p:cNvPr>
          <p:cNvSpPr txBox="1">
            <a:spLocks/>
          </p:cNvSpPr>
          <p:nvPr/>
        </p:nvSpPr>
        <p:spPr>
          <a:xfrm>
            <a:off x="888463" y="2688818"/>
            <a:ext cx="11141122" cy="777191"/>
          </a:xfrm>
          <a:prstGeom prst="rect">
            <a:avLst/>
          </a:prstGeom>
        </p:spPr>
        <p:txBody>
          <a:bodyPr lIns="117484" tIns="58742" rIns="117484" bIns="58742"/>
          <a:lstStyle>
            <a:lvl1pPr algn="ctr" defTabSz="853410" rtl="0" eaLnBrk="1" latinLnBrk="0" hangingPunct="1">
              <a:lnSpc>
                <a:spcPct val="90000"/>
              </a:lnSpc>
              <a:spcBef>
                <a:spcPct val="0"/>
              </a:spcBef>
              <a:buNone/>
              <a:defRPr sz="4107" kern="1200">
                <a:solidFill>
                  <a:schemeClr val="tx1"/>
                </a:solidFill>
                <a:latin typeface="+mj-lt"/>
                <a:ea typeface="+mj-ea"/>
                <a:cs typeface="+mj-cs"/>
              </a:defRPr>
            </a:lvl1pPr>
          </a:lstStyle>
          <a:p>
            <a:pPr fontAlgn="auto">
              <a:spcAft>
                <a:spcPts val="0"/>
              </a:spcAft>
              <a:defRPr/>
            </a:pPr>
            <a:r>
              <a:rPr lang="en-US" b="1" dirty="0"/>
              <a:t>(Unit No)</a:t>
            </a:r>
          </a:p>
          <a:p>
            <a:pPr fontAlgn="auto">
              <a:spcAft>
                <a:spcPts val="0"/>
              </a:spcAft>
              <a:defRPr/>
            </a:pPr>
            <a:r>
              <a:rPr lang="en-US" b="1" dirty="0"/>
              <a:t>(Related CO’s, PO’s &amp; PSO’s)</a:t>
            </a:r>
            <a:endParaRPr lang="en-IN" b="1" dirty="0"/>
          </a:p>
        </p:txBody>
      </p:sp>
      <p:sp>
        <p:nvSpPr>
          <p:cNvPr id="6" name="Title 1">
            <a:extLst>
              <a:ext uri="{FF2B5EF4-FFF2-40B4-BE49-F238E27FC236}">
                <a16:creationId xmlns:a16="http://schemas.microsoft.com/office/drawing/2014/main" id="{2CBE47D8-BA5C-46EC-8DA1-D656A6F9FBB8}"/>
              </a:ext>
            </a:extLst>
          </p:cNvPr>
          <p:cNvSpPr txBox="1">
            <a:spLocks/>
          </p:cNvSpPr>
          <p:nvPr/>
        </p:nvSpPr>
        <p:spPr>
          <a:xfrm>
            <a:off x="888463" y="4503530"/>
            <a:ext cx="11141122" cy="777192"/>
          </a:xfrm>
          <a:prstGeom prst="rect">
            <a:avLst/>
          </a:prstGeom>
        </p:spPr>
        <p:txBody>
          <a:bodyPr lIns="117484" tIns="58742" rIns="117484" bIns="58742"/>
          <a:lstStyle>
            <a:lvl1pPr algn="ctr" defTabSz="853410" rtl="0" eaLnBrk="1" latinLnBrk="0" hangingPunct="1">
              <a:lnSpc>
                <a:spcPct val="90000"/>
              </a:lnSpc>
              <a:spcBef>
                <a:spcPct val="0"/>
              </a:spcBef>
              <a:buNone/>
              <a:defRPr sz="4107" kern="1200">
                <a:solidFill>
                  <a:schemeClr val="tx1"/>
                </a:solidFill>
                <a:latin typeface="+mj-lt"/>
                <a:ea typeface="+mj-ea"/>
                <a:cs typeface="+mj-cs"/>
              </a:defRPr>
            </a:lvl1pPr>
          </a:lstStyle>
          <a:p>
            <a:pPr fontAlgn="auto">
              <a:spcAft>
                <a:spcPts val="0"/>
              </a:spcAft>
              <a:defRPr/>
            </a:pPr>
            <a:r>
              <a:rPr lang="en-US" b="1" dirty="0"/>
              <a:t>Faculty Name</a:t>
            </a:r>
          </a:p>
          <a:p>
            <a:pPr fontAlgn="auto">
              <a:spcAft>
                <a:spcPts val="0"/>
              </a:spcAft>
              <a:defRPr/>
            </a:pPr>
            <a:r>
              <a:rPr lang="en-US" sz="4600" dirty="0"/>
              <a:t>Designation</a:t>
            </a:r>
          </a:p>
          <a:p>
            <a:pPr fontAlgn="auto">
              <a:spcAft>
                <a:spcPts val="0"/>
              </a:spcAft>
              <a:defRPr/>
            </a:pPr>
            <a:r>
              <a:rPr lang="en-US" sz="4600" dirty="0"/>
              <a:t>Department Name</a:t>
            </a:r>
            <a:endParaRPr lang="en-IN" sz="460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62465" y="7608494"/>
            <a:ext cx="3091498" cy="437052"/>
          </a:xfrm>
          <a:prstGeom prst="rect">
            <a:avLst/>
          </a:prstGeom>
        </p:spPr>
        <p:txBody>
          <a:bodyPr lIns="117484" tIns="58742" rIns="117484" bIns="58742"/>
          <a:lstStyle/>
          <a:p>
            <a:r>
              <a:rPr lang="en-US" dirty="0"/>
              <a:t>02/09/2025</a:t>
            </a:r>
          </a:p>
        </p:txBody>
      </p:sp>
      <p:sp>
        <p:nvSpPr>
          <p:cNvPr id="3" name="Footer Placeholder 2"/>
          <p:cNvSpPr>
            <a:spLocks noGrp="1"/>
          </p:cNvSpPr>
          <p:nvPr>
            <p:ph type="ftr" sz="quarter" idx="11"/>
          </p:nvPr>
        </p:nvSpPr>
        <p:spPr>
          <a:xfrm>
            <a:off x="4526838" y="7608494"/>
            <a:ext cx="4195603" cy="437052"/>
          </a:xfrm>
          <a:prstGeom prst="rect">
            <a:avLst/>
          </a:prstGeom>
        </p:spPr>
        <p:txBody>
          <a:bodyPr lIns="117484" tIns="58742" rIns="117484" bIns="58742"/>
          <a:lstStyle/>
          <a:p>
            <a:endParaRPr lang="en-US" dirty="0"/>
          </a:p>
        </p:txBody>
      </p:sp>
      <p:sp>
        <p:nvSpPr>
          <p:cNvPr id="4" name="Slide Number Placeholder 3"/>
          <p:cNvSpPr>
            <a:spLocks noGrp="1"/>
          </p:cNvSpPr>
          <p:nvPr>
            <p:ph type="sldNum" sz="quarter" idx="12"/>
          </p:nvPr>
        </p:nvSpPr>
        <p:spPr>
          <a:xfrm>
            <a:off x="9495315" y="7608494"/>
            <a:ext cx="3091498" cy="437052"/>
          </a:xfrm>
          <a:prstGeom prst="rect">
            <a:avLst/>
          </a:prstGeom>
        </p:spPr>
        <p:txBody>
          <a:bodyPr lIns="117484" tIns="58742" rIns="117484" bIns="58742"/>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6"/>
          <p:cNvPicPr>
            <a:picLocks noChangeAspect="1" noChangeArrowheads="1"/>
          </p:cNvPicPr>
          <p:nvPr/>
        </p:nvPicPr>
        <p:blipFill>
          <a:blip r:embed="rId5"/>
          <a:srcRect/>
          <a:stretch>
            <a:fillRect/>
          </a:stretch>
        </p:blipFill>
        <p:spPr bwMode="auto">
          <a:xfrm>
            <a:off x="2" y="7334863"/>
            <a:ext cx="13249275" cy="87410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sldNum="0" hdr="0" ftr="0"/>
  <p:txStyles>
    <p:titleStyle>
      <a:lvl1pPr algn="l" rtl="0" eaLnBrk="1" fontAlgn="base" hangingPunct="1">
        <a:lnSpc>
          <a:spcPct val="90000"/>
        </a:lnSpc>
        <a:spcBef>
          <a:spcPct val="0"/>
        </a:spcBef>
        <a:spcAft>
          <a:spcPct val="0"/>
        </a:spcAft>
        <a:defRPr sz="5700" kern="1200">
          <a:solidFill>
            <a:schemeClr val="tx1"/>
          </a:solidFill>
          <a:latin typeface="+mj-lt"/>
          <a:ea typeface="+mj-ea"/>
          <a:cs typeface="+mj-cs"/>
        </a:defRPr>
      </a:lvl1pPr>
      <a:lvl2pPr algn="l" rtl="0" eaLnBrk="1" fontAlgn="base" hangingPunct="1">
        <a:lnSpc>
          <a:spcPct val="90000"/>
        </a:lnSpc>
        <a:spcBef>
          <a:spcPct val="0"/>
        </a:spcBef>
        <a:spcAft>
          <a:spcPct val="0"/>
        </a:spcAft>
        <a:defRPr sz="5700">
          <a:solidFill>
            <a:schemeClr val="tx1"/>
          </a:solidFill>
          <a:latin typeface="Calibri Light" pitchFamily="34" charset="0"/>
        </a:defRPr>
      </a:lvl2pPr>
      <a:lvl3pPr algn="l" rtl="0" eaLnBrk="1" fontAlgn="base" hangingPunct="1">
        <a:lnSpc>
          <a:spcPct val="90000"/>
        </a:lnSpc>
        <a:spcBef>
          <a:spcPct val="0"/>
        </a:spcBef>
        <a:spcAft>
          <a:spcPct val="0"/>
        </a:spcAft>
        <a:defRPr sz="5700">
          <a:solidFill>
            <a:schemeClr val="tx1"/>
          </a:solidFill>
          <a:latin typeface="Calibri Light" pitchFamily="34" charset="0"/>
        </a:defRPr>
      </a:lvl3pPr>
      <a:lvl4pPr algn="l" rtl="0" eaLnBrk="1" fontAlgn="base" hangingPunct="1">
        <a:lnSpc>
          <a:spcPct val="90000"/>
        </a:lnSpc>
        <a:spcBef>
          <a:spcPct val="0"/>
        </a:spcBef>
        <a:spcAft>
          <a:spcPct val="0"/>
        </a:spcAft>
        <a:defRPr sz="5700">
          <a:solidFill>
            <a:schemeClr val="tx1"/>
          </a:solidFill>
          <a:latin typeface="Calibri Light" pitchFamily="34" charset="0"/>
        </a:defRPr>
      </a:lvl4pPr>
      <a:lvl5pPr algn="l" rtl="0" eaLnBrk="1" fontAlgn="base" hangingPunct="1">
        <a:lnSpc>
          <a:spcPct val="90000"/>
        </a:lnSpc>
        <a:spcBef>
          <a:spcPct val="0"/>
        </a:spcBef>
        <a:spcAft>
          <a:spcPct val="0"/>
        </a:spcAft>
        <a:defRPr sz="5700">
          <a:solidFill>
            <a:schemeClr val="tx1"/>
          </a:solidFill>
          <a:latin typeface="Calibri Light" pitchFamily="34" charset="0"/>
        </a:defRPr>
      </a:lvl5pPr>
      <a:lvl6pPr marL="587421" algn="l" rtl="0" eaLnBrk="1" fontAlgn="base" hangingPunct="1">
        <a:lnSpc>
          <a:spcPct val="90000"/>
        </a:lnSpc>
        <a:spcBef>
          <a:spcPct val="0"/>
        </a:spcBef>
        <a:spcAft>
          <a:spcPct val="0"/>
        </a:spcAft>
        <a:defRPr sz="5700">
          <a:solidFill>
            <a:schemeClr val="tx1"/>
          </a:solidFill>
          <a:latin typeface="Calibri Light" pitchFamily="34" charset="0"/>
        </a:defRPr>
      </a:lvl6pPr>
      <a:lvl7pPr marL="1174842" algn="l" rtl="0" eaLnBrk="1" fontAlgn="base" hangingPunct="1">
        <a:lnSpc>
          <a:spcPct val="90000"/>
        </a:lnSpc>
        <a:spcBef>
          <a:spcPct val="0"/>
        </a:spcBef>
        <a:spcAft>
          <a:spcPct val="0"/>
        </a:spcAft>
        <a:defRPr sz="5700">
          <a:solidFill>
            <a:schemeClr val="tx1"/>
          </a:solidFill>
          <a:latin typeface="Calibri Light" pitchFamily="34" charset="0"/>
        </a:defRPr>
      </a:lvl7pPr>
      <a:lvl8pPr marL="1762261" algn="l" rtl="0" eaLnBrk="1" fontAlgn="base" hangingPunct="1">
        <a:lnSpc>
          <a:spcPct val="90000"/>
        </a:lnSpc>
        <a:spcBef>
          <a:spcPct val="0"/>
        </a:spcBef>
        <a:spcAft>
          <a:spcPct val="0"/>
        </a:spcAft>
        <a:defRPr sz="5700">
          <a:solidFill>
            <a:schemeClr val="tx1"/>
          </a:solidFill>
          <a:latin typeface="Calibri Light" pitchFamily="34" charset="0"/>
        </a:defRPr>
      </a:lvl8pPr>
      <a:lvl9pPr marL="2349682" algn="l" rtl="0" eaLnBrk="1" fontAlgn="base" hangingPunct="1">
        <a:lnSpc>
          <a:spcPct val="90000"/>
        </a:lnSpc>
        <a:spcBef>
          <a:spcPct val="0"/>
        </a:spcBef>
        <a:spcAft>
          <a:spcPct val="0"/>
        </a:spcAft>
        <a:defRPr sz="5700">
          <a:solidFill>
            <a:schemeClr val="tx1"/>
          </a:solidFill>
          <a:latin typeface="Calibri Light" pitchFamily="34" charset="0"/>
        </a:defRPr>
      </a:lvl9pPr>
    </p:titleStyle>
    <p:bodyStyle>
      <a:lvl1pPr marL="293710" indent="-293710" algn="l" rtl="0" eaLnBrk="1" fontAlgn="base" hangingPunct="1">
        <a:lnSpc>
          <a:spcPct val="90000"/>
        </a:lnSpc>
        <a:spcBef>
          <a:spcPts val="1285"/>
        </a:spcBef>
        <a:spcAft>
          <a:spcPct val="0"/>
        </a:spcAft>
        <a:buFont typeface="Arial" pitchFamily="34" charset="0"/>
        <a:buChar char="•"/>
        <a:defRPr sz="3600" kern="1200">
          <a:solidFill>
            <a:schemeClr val="tx1"/>
          </a:solidFill>
          <a:latin typeface="+mn-lt"/>
          <a:ea typeface="+mn-ea"/>
          <a:cs typeface="+mn-cs"/>
        </a:defRPr>
      </a:lvl1pPr>
      <a:lvl2pPr marL="881131" indent="-293710" algn="l" rtl="0" eaLnBrk="1" fontAlgn="base" hangingPunct="1">
        <a:lnSpc>
          <a:spcPct val="90000"/>
        </a:lnSpc>
        <a:spcBef>
          <a:spcPts val="642"/>
        </a:spcBef>
        <a:spcAft>
          <a:spcPct val="0"/>
        </a:spcAft>
        <a:buFont typeface="Arial" pitchFamily="34" charset="0"/>
        <a:buChar char="•"/>
        <a:defRPr sz="3100" kern="1200">
          <a:solidFill>
            <a:schemeClr val="tx1"/>
          </a:solidFill>
          <a:latin typeface="+mn-lt"/>
          <a:ea typeface="+mn-ea"/>
          <a:cs typeface="+mn-cs"/>
        </a:defRPr>
      </a:lvl2pPr>
      <a:lvl3pPr marL="1468552" indent="-293710" algn="l" rtl="0" eaLnBrk="1" fontAlgn="base" hangingPunct="1">
        <a:lnSpc>
          <a:spcPct val="90000"/>
        </a:lnSpc>
        <a:spcBef>
          <a:spcPts val="642"/>
        </a:spcBef>
        <a:spcAft>
          <a:spcPct val="0"/>
        </a:spcAft>
        <a:buFont typeface="Arial" pitchFamily="34" charset="0"/>
        <a:buChar char="•"/>
        <a:defRPr sz="2600" kern="1200">
          <a:solidFill>
            <a:schemeClr val="tx1"/>
          </a:solidFill>
          <a:latin typeface="+mn-lt"/>
          <a:ea typeface="+mn-ea"/>
          <a:cs typeface="+mn-cs"/>
        </a:defRPr>
      </a:lvl3pPr>
      <a:lvl4pPr marL="2055972" indent="-293710" algn="l" rtl="0" eaLnBrk="1" fontAlgn="base" hangingPunct="1">
        <a:lnSpc>
          <a:spcPct val="90000"/>
        </a:lnSpc>
        <a:spcBef>
          <a:spcPts val="642"/>
        </a:spcBef>
        <a:spcAft>
          <a:spcPct val="0"/>
        </a:spcAft>
        <a:buFont typeface="Arial" pitchFamily="34" charset="0"/>
        <a:buChar char="•"/>
        <a:defRPr kern="1200">
          <a:solidFill>
            <a:schemeClr val="tx1"/>
          </a:solidFill>
          <a:latin typeface="+mn-lt"/>
          <a:ea typeface="+mn-ea"/>
          <a:cs typeface="+mn-cs"/>
        </a:defRPr>
      </a:lvl4pPr>
      <a:lvl5pPr marL="2643393" indent="-293710" algn="l" rtl="0" eaLnBrk="1" fontAlgn="base" hangingPunct="1">
        <a:lnSpc>
          <a:spcPct val="90000"/>
        </a:lnSpc>
        <a:spcBef>
          <a:spcPts val="642"/>
        </a:spcBef>
        <a:spcAft>
          <a:spcPct val="0"/>
        </a:spcAft>
        <a:buFont typeface="Arial" pitchFamily="34" charset="0"/>
        <a:buChar char="•"/>
        <a:defRPr kern="1200">
          <a:solidFill>
            <a:schemeClr val="tx1"/>
          </a:solidFill>
          <a:latin typeface="+mn-lt"/>
          <a:ea typeface="+mn-ea"/>
          <a:cs typeface="+mn-cs"/>
        </a:defRPr>
      </a:lvl5pPr>
      <a:lvl6pPr marL="3230813" indent="-293710" algn="l" defTabSz="1174842" rtl="0" eaLnBrk="1" latinLnBrk="0" hangingPunct="1">
        <a:lnSpc>
          <a:spcPct val="90000"/>
        </a:lnSpc>
        <a:spcBef>
          <a:spcPts val="642"/>
        </a:spcBef>
        <a:buFont typeface="Arial" panose="020B0604020202020204" pitchFamily="34" charset="0"/>
        <a:buChar char="•"/>
        <a:defRPr sz="2300" kern="1200">
          <a:solidFill>
            <a:schemeClr val="tx1"/>
          </a:solidFill>
          <a:latin typeface="+mn-lt"/>
          <a:ea typeface="+mn-ea"/>
          <a:cs typeface="+mn-cs"/>
        </a:defRPr>
      </a:lvl6pPr>
      <a:lvl7pPr marL="3818234" indent="-293710" algn="l" defTabSz="1174842" rtl="0" eaLnBrk="1" latinLnBrk="0" hangingPunct="1">
        <a:lnSpc>
          <a:spcPct val="90000"/>
        </a:lnSpc>
        <a:spcBef>
          <a:spcPts val="642"/>
        </a:spcBef>
        <a:buFont typeface="Arial" panose="020B0604020202020204" pitchFamily="34" charset="0"/>
        <a:buChar char="•"/>
        <a:defRPr sz="2300" kern="1200">
          <a:solidFill>
            <a:schemeClr val="tx1"/>
          </a:solidFill>
          <a:latin typeface="+mn-lt"/>
          <a:ea typeface="+mn-ea"/>
          <a:cs typeface="+mn-cs"/>
        </a:defRPr>
      </a:lvl7pPr>
      <a:lvl8pPr marL="4405655" indent="-293710" algn="l" defTabSz="1174842" rtl="0" eaLnBrk="1" latinLnBrk="0" hangingPunct="1">
        <a:lnSpc>
          <a:spcPct val="90000"/>
        </a:lnSpc>
        <a:spcBef>
          <a:spcPts val="642"/>
        </a:spcBef>
        <a:buFont typeface="Arial" panose="020B0604020202020204" pitchFamily="34" charset="0"/>
        <a:buChar char="•"/>
        <a:defRPr sz="2300" kern="1200">
          <a:solidFill>
            <a:schemeClr val="tx1"/>
          </a:solidFill>
          <a:latin typeface="+mn-lt"/>
          <a:ea typeface="+mn-ea"/>
          <a:cs typeface="+mn-cs"/>
        </a:defRPr>
      </a:lvl8pPr>
      <a:lvl9pPr marL="4993075" indent="-293710" algn="l" defTabSz="1174842" rtl="0" eaLnBrk="1" latinLnBrk="0" hangingPunct="1">
        <a:lnSpc>
          <a:spcPct val="90000"/>
        </a:lnSpc>
        <a:spcBef>
          <a:spcPts val="642"/>
        </a:spcBef>
        <a:buFont typeface="Arial" panose="020B0604020202020204" pitchFamily="34" charset="0"/>
        <a:buChar char="•"/>
        <a:defRPr sz="2300" kern="1200">
          <a:solidFill>
            <a:schemeClr val="tx1"/>
          </a:solidFill>
          <a:latin typeface="+mn-lt"/>
          <a:ea typeface="+mn-ea"/>
          <a:cs typeface="+mn-cs"/>
        </a:defRPr>
      </a:lvl9pPr>
    </p:bodyStyle>
    <p:otherStyle>
      <a:defPPr>
        <a:defRPr lang="en-US"/>
      </a:defPPr>
      <a:lvl1pPr marL="0" algn="l" defTabSz="1174842" rtl="0" eaLnBrk="1" latinLnBrk="0" hangingPunct="1">
        <a:defRPr sz="2300" kern="1200">
          <a:solidFill>
            <a:schemeClr val="tx1"/>
          </a:solidFill>
          <a:latin typeface="+mn-lt"/>
          <a:ea typeface="+mn-ea"/>
          <a:cs typeface="+mn-cs"/>
        </a:defRPr>
      </a:lvl1pPr>
      <a:lvl2pPr marL="587421" algn="l" defTabSz="1174842" rtl="0" eaLnBrk="1" latinLnBrk="0" hangingPunct="1">
        <a:defRPr sz="2300" kern="1200">
          <a:solidFill>
            <a:schemeClr val="tx1"/>
          </a:solidFill>
          <a:latin typeface="+mn-lt"/>
          <a:ea typeface="+mn-ea"/>
          <a:cs typeface="+mn-cs"/>
        </a:defRPr>
      </a:lvl2pPr>
      <a:lvl3pPr marL="1174842" algn="l" defTabSz="1174842" rtl="0" eaLnBrk="1" latinLnBrk="0" hangingPunct="1">
        <a:defRPr sz="2300" kern="1200">
          <a:solidFill>
            <a:schemeClr val="tx1"/>
          </a:solidFill>
          <a:latin typeface="+mn-lt"/>
          <a:ea typeface="+mn-ea"/>
          <a:cs typeface="+mn-cs"/>
        </a:defRPr>
      </a:lvl3pPr>
      <a:lvl4pPr marL="1762261" algn="l" defTabSz="1174842" rtl="0" eaLnBrk="1" latinLnBrk="0" hangingPunct="1">
        <a:defRPr sz="2300" kern="1200">
          <a:solidFill>
            <a:schemeClr val="tx1"/>
          </a:solidFill>
          <a:latin typeface="+mn-lt"/>
          <a:ea typeface="+mn-ea"/>
          <a:cs typeface="+mn-cs"/>
        </a:defRPr>
      </a:lvl4pPr>
      <a:lvl5pPr marL="2349682" algn="l" defTabSz="1174842" rtl="0" eaLnBrk="1" latinLnBrk="0" hangingPunct="1">
        <a:defRPr sz="2300" kern="1200">
          <a:solidFill>
            <a:schemeClr val="tx1"/>
          </a:solidFill>
          <a:latin typeface="+mn-lt"/>
          <a:ea typeface="+mn-ea"/>
          <a:cs typeface="+mn-cs"/>
        </a:defRPr>
      </a:lvl5pPr>
      <a:lvl6pPr marL="2937103" algn="l" defTabSz="1174842" rtl="0" eaLnBrk="1" latinLnBrk="0" hangingPunct="1">
        <a:defRPr sz="2300" kern="1200">
          <a:solidFill>
            <a:schemeClr val="tx1"/>
          </a:solidFill>
          <a:latin typeface="+mn-lt"/>
          <a:ea typeface="+mn-ea"/>
          <a:cs typeface="+mn-cs"/>
        </a:defRPr>
      </a:lvl6pPr>
      <a:lvl7pPr marL="3524524" algn="l" defTabSz="1174842" rtl="0" eaLnBrk="1" latinLnBrk="0" hangingPunct="1">
        <a:defRPr sz="2300" kern="1200">
          <a:solidFill>
            <a:schemeClr val="tx1"/>
          </a:solidFill>
          <a:latin typeface="+mn-lt"/>
          <a:ea typeface="+mn-ea"/>
          <a:cs typeface="+mn-cs"/>
        </a:defRPr>
      </a:lvl7pPr>
      <a:lvl8pPr marL="4111945" algn="l" defTabSz="1174842" rtl="0" eaLnBrk="1" latinLnBrk="0" hangingPunct="1">
        <a:defRPr sz="2300" kern="1200">
          <a:solidFill>
            <a:schemeClr val="tx1"/>
          </a:solidFill>
          <a:latin typeface="+mn-lt"/>
          <a:ea typeface="+mn-ea"/>
          <a:cs typeface="+mn-cs"/>
        </a:defRPr>
      </a:lvl8pPr>
      <a:lvl9pPr marL="4699364" algn="l" defTabSz="1174842"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38EFFF-10FA-373A-F048-0A7F1DB08EA3}"/>
              </a:ext>
            </a:extLst>
          </p:cNvPr>
          <p:cNvSpPr txBox="1"/>
          <p:nvPr/>
        </p:nvSpPr>
        <p:spPr>
          <a:xfrm>
            <a:off x="3763266" y="1639221"/>
            <a:ext cx="6628450" cy="1384995"/>
          </a:xfrm>
          <a:prstGeom prst="rect">
            <a:avLst/>
          </a:prstGeom>
          <a:noFill/>
        </p:spPr>
        <p:txBody>
          <a:bodyPr wrap="square" rtlCol="0">
            <a:spAutoFit/>
          </a:bodyPr>
          <a:lstStyle/>
          <a:p>
            <a:pPr algn="just"/>
            <a:r>
              <a:rPr lang="en-IN" sz="2800" dirty="0"/>
              <a:t>Analysis &amp; Design of Vehicle Chassis in EV’s</a:t>
            </a:r>
          </a:p>
          <a:p>
            <a:pPr algn="l"/>
            <a:endParaRPr lang="en-IN" sz="2800" dirty="0"/>
          </a:p>
          <a:p>
            <a:pPr algn="l"/>
            <a:r>
              <a:rPr lang="en-IN" sz="2800" dirty="0"/>
              <a:t> </a:t>
            </a:r>
            <a:endParaRPr lang="en-US" sz="2800" dirty="0"/>
          </a:p>
        </p:txBody>
      </p:sp>
      <p:sp>
        <p:nvSpPr>
          <p:cNvPr id="4" name="TextBox 3">
            <a:extLst>
              <a:ext uri="{FF2B5EF4-FFF2-40B4-BE49-F238E27FC236}">
                <a16:creationId xmlns:a16="http://schemas.microsoft.com/office/drawing/2014/main" id="{F8BF8DD8-9004-BC24-6086-592501FE5D34}"/>
              </a:ext>
            </a:extLst>
          </p:cNvPr>
          <p:cNvSpPr txBox="1"/>
          <p:nvPr/>
        </p:nvSpPr>
        <p:spPr>
          <a:xfrm>
            <a:off x="1214437" y="744792"/>
            <a:ext cx="11246631" cy="707886"/>
          </a:xfrm>
          <a:prstGeom prst="rect">
            <a:avLst/>
          </a:prstGeom>
          <a:noFill/>
        </p:spPr>
        <p:txBody>
          <a:bodyPr wrap="square" rtlCol="0">
            <a:spAutoFit/>
          </a:bodyPr>
          <a:lstStyle/>
          <a:p>
            <a:pPr algn="ctr"/>
            <a:r>
              <a:rPr lang="en-IN" sz="4000" dirty="0"/>
              <a:t>SUMMER INTERNSHIP REPORT</a:t>
            </a:r>
            <a:endParaRPr lang="en-US" sz="4000" dirty="0"/>
          </a:p>
        </p:txBody>
      </p:sp>
      <p:sp>
        <p:nvSpPr>
          <p:cNvPr id="7" name="TextBox 6">
            <a:extLst>
              <a:ext uri="{FF2B5EF4-FFF2-40B4-BE49-F238E27FC236}">
                <a16:creationId xmlns:a16="http://schemas.microsoft.com/office/drawing/2014/main" id="{CD911253-B0FD-F0DB-E72D-9A40C79AF791}"/>
              </a:ext>
            </a:extLst>
          </p:cNvPr>
          <p:cNvSpPr txBox="1"/>
          <p:nvPr/>
        </p:nvSpPr>
        <p:spPr>
          <a:xfrm>
            <a:off x="5707258" y="3187632"/>
            <a:ext cx="1828800" cy="1828800"/>
          </a:xfrm>
          <a:prstGeom prst="rect">
            <a:avLst/>
          </a:prstGeom>
          <a:noFill/>
        </p:spPr>
        <p:txBody>
          <a:bodyPr wrap="square" rtlCol="0">
            <a:spAutoFit/>
          </a:bodyPr>
          <a:lstStyle/>
          <a:p>
            <a:pPr algn="l"/>
            <a:endParaRPr lang="en-US" dirty="0"/>
          </a:p>
        </p:txBody>
      </p:sp>
      <p:sp>
        <p:nvSpPr>
          <p:cNvPr id="8" name="TextBox 7">
            <a:extLst>
              <a:ext uri="{FF2B5EF4-FFF2-40B4-BE49-F238E27FC236}">
                <a16:creationId xmlns:a16="http://schemas.microsoft.com/office/drawing/2014/main" id="{150D2B5F-2F2E-063D-77D5-ACDF0DCC00B0}"/>
              </a:ext>
            </a:extLst>
          </p:cNvPr>
          <p:cNvSpPr txBox="1"/>
          <p:nvPr/>
        </p:nvSpPr>
        <p:spPr>
          <a:xfrm>
            <a:off x="5707258" y="3187632"/>
            <a:ext cx="1828800" cy="1828800"/>
          </a:xfrm>
          <a:prstGeom prst="rect">
            <a:avLst/>
          </a:prstGeom>
          <a:noFill/>
        </p:spPr>
        <p:txBody>
          <a:bodyPr wrap="square" rtlCol="0">
            <a:spAutoFit/>
          </a:bodyPr>
          <a:lstStyle/>
          <a:p>
            <a:pPr algn="l"/>
            <a:endParaRPr lang="en-US" dirty="0"/>
          </a:p>
        </p:txBody>
      </p:sp>
      <p:sp>
        <p:nvSpPr>
          <p:cNvPr id="17" name="TextBox 16">
            <a:extLst>
              <a:ext uri="{FF2B5EF4-FFF2-40B4-BE49-F238E27FC236}">
                <a16:creationId xmlns:a16="http://schemas.microsoft.com/office/drawing/2014/main" id="{406D607E-525E-0E41-1CA6-3416778BC656}"/>
              </a:ext>
            </a:extLst>
          </p:cNvPr>
          <p:cNvSpPr txBox="1"/>
          <p:nvPr/>
        </p:nvSpPr>
        <p:spPr>
          <a:xfrm>
            <a:off x="757237" y="5358294"/>
            <a:ext cx="6621658" cy="1323439"/>
          </a:xfrm>
          <a:prstGeom prst="rect">
            <a:avLst/>
          </a:prstGeom>
          <a:noFill/>
        </p:spPr>
        <p:txBody>
          <a:bodyPr wrap="square">
            <a:spAutoFit/>
          </a:bodyPr>
          <a:lstStyle/>
          <a:p>
            <a:r>
              <a:rPr lang="en-IN" sz="2000" b="1" dirty="0"/>
              <a:t>Submitted by:</a:t>
            </a:r>
          </a:p>
          <a:p>
            <a:r>
              <a:rPr lang="en-IN" sz="2000" b="1" dirty="0"/>
              <a:t>238T5A0202-</a:t>
            </a:r>
            <a:r>
              <a:rPr lang="en-IN" sz="2000" dirty="0"/>
              <a:t>ANNAVARAPU KOTESWARA RAO</a:t>
            </a:r>
          </a:p>
          <a:p>
            <a:r>
              <a:rPr lang="en-IN" sz="2000" b="1" dirty="0"/>
              <a:t>238T5A0203-</a:t>
            </a:r>
            <a:r>
              <a:rPr lang="en-IN" sz="2000" dirty="0"/>
              <a:t>ARIGA PREM KUMAR</a:t>
            </a:r>
          </a:p>
          <a:p>
            <a:r>
              <a:rPr lang="en-IN" sz="2000" b="1" dirty="0"/>
              <a:t>238T5A0211-</a:t>
            </a:r>
            <a:r>
              <a:rPr lang="en-IN" sz="2000" dirty="0"/>
              <a:t>PULAVARTHI SURESH.</a:t>
            </a:r>
            <a:endParaRPr lang="en-IN" sz="2000" b="1" dirty="0"/>
          </a:p>
        </p:txBody>
      </p:sp>
      <p:pic>
        <p:nvPicPr>
          <p:cNvPr id="3" name="Picture 2">
            <a:extLst>
              <a:ext uri="{FF2B5EF4-FFF2-40B4-BE49-F238E27FC236}">
                <a16:creationId xmlns:a16="http://schemas.microsoft.com/office/drawing/2014/main" id="{8CCE7C75-D236-C0CF-BE43-CA178C969A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4437" y="2514383"/>
            <a:ext cx="2630469" cy="2630469"/>
          </a:xfrm>
          <a:prstGeom prst="rect">
            <a:avLst/>
          </a:prstGeom>
        </p:spPr>
      </p:pic>
      <p:sp>
        <p:nvSpPr>
          <p:cNvPr id="6" name="TextBox 5">
            <a:extLst>
              <a:ext uri="{FF2B5EF4-FFF2-40B4-BE49-F238E27FC236}">
                <a16:creationId xmlns:a16="http://schemas.microsoft.com/office/drawing/2014/main" id="{046A601E-7739-5D73-F808-324D38251F05}"/>
              </a:ext>
            </a:extLst>
          </p:cNvPr>
          <p:cNvSpPr txBox="1"/>
          <p:nvPr/>
        </p:nvSpPr>
        <p:spPr>
          <a:xfrm>
            <a:off x="7094499" y="5308268"/>
            <a:ext cx="6621658" cy="1985159"/>
          </a:xfrm>
          <a:prstGeom prst="rect">
            <a:avLst/>
          </a:prstGeom>
          <a:noFill/>
        </p:spPr>
        <p:txBody>
          <a:bodyPr wrap="square">
            <a:spAutoFit/>
          </a:bodyPr>
          <a:lstStyle/>
          <a:p>
            <a:pPr algn="ctr"/>
            <a:r>
              <a:rPr lang="en-IN" b="1" dirty="0"/>
              <a:t>Faculty Mentor:</a:t>
            </a:r>
          </a:p>
          <a:p>
            <a:pPr algn="ctr"/>
            <a:r>
              <a:rPr lang="en-IN" sz="1800" dirty="0"/>
              <a:t>Dr. GUVURULA NAIDU</a:t>
            </a:r>
          </a:p>
          <a:p>
            <a:pPr algn="ctr"/>
            <a:r>
              <a:rPr lang="en-IN" sz="1800" dirty="0"/>
              <a:t>ASSISTANT PROFESSOR &amp; HEAD OF THE DEPEARTMENT</a:t>
            </a:r>
          </a:p>
          <a:p>
            <a:pPr algn="ctr"/>
            <a:r>
              <a:rPr lang="en-IN" sz="1800" dirty="0"/>
              <a:t>ELECTRICAL AND ELECTRONICS ENGINEERING</a:t>
            </a:r>
          </a:p>
          <a:p>
            <a:pPr algn="ctr"/>
            <a:endParaRPr lang="en-IN" b="1" dirty="0"/>
          </a:p>
          <a:p>
            <a:pPr algn="ctr"/>
            <a:r>
              <a:rPr lang="en-IN" dirty="0"/>
              <a:t> </a:t>
            </a:r>
            <a:endParaRPr lang="en-IN" b="1" dirty="0"/>
          </a:p>
        </p:txBody>
      </p:sp>
      <p:sp>
        <p:nvSpPr>
          <p:cNvPr id="5" name="Date Placeholder 4">
            <a:extLst>
              <a:ext uri="{FF2B5EF4-FFF2-40B4-BE49-F238E27FC236}">
                <a16:creationId xmlns:a16="http://schemas.microsoft.com/office/drawing/2014/main" id="{9F58398D-F483-E0AC-0BF1-4003552FB23A}"/>
              </a:ext>
            </a:extLst>
          </p:cNvPr>
          <p:cNvSpPr>
            <a:spLocks noGrp="1"/>
          </p:cNvSpPr>
          <p:nvPr>
            <p:ph type="dt" sz="half" idx="10"/>
          </p:nvPr>
        </p:nvSpPr>
        <p:spPr>
          <a:xfrm>
            <a:off x="149793" y="6781460"/>
            <a:ext cx="3091498" cy="437052"/>
          </a:xfrm>
        </p:spPr>
        <p:txBody>
          <a:bodyPr/>
          <a:lstStyle/>
          <a:p>
            <a:r>
              <a:rPr lang="en-US" sz="1400" dirty="0"/>
              <a:t>02/09/2025</a:t>
            </a:r>
          </a:p>
        </p:txBody>
      </p:sp>
      <p:sp>
        <p:nvSpPr>
          <p:cNvPr id="9" name="TextBox 8">
            <a:extLst>
              <a:ext uri="{FF2B5EF4-FFF2-40B4-BE49-F238E27FC236}">
                <a16:creationId xmlns:a16="http://schemas.microsoft.com/office/drawing/2014/main" id="{BBDF07C2-093B-614E-A34C-6ABB696A56EB}"/>
              </a:ext>
            </a:extLst>
          </p:cNvPr>
          <p:cNvSpPr txBox="1"/>
          <p:nvPr/>
        </p:nvSpPr>
        <p:spPr>
          <a:xfrm>
            <a:off x="11730037" y="6781460"/>
            <a:ext cx="1828800" cy="584775"/>
          </a:xfrm>
          <a:prstGeom prst="rect">
            <a:avLst/>
          </a:prstGeom>
          <a:noFill/>
        </p:spPr>
        <p:txBody>
          <a:bodyPr wrap="square" rtlCol="0">
            <a:spAutoFit/>
          </a:bodyPr>
          <a:lstStyle/>
          <a:p>
            <a:r>
              <a:rPr lang="en-IN" sz="1600" dirty="0"/>
              <a:t>(Batch No-1)</a:t>
            </a:r>
            <a:endParaRPr lang="en-IN" sz="1600" b="1" dirty="0"/>
          </a:p>
          <a:p>
            <a:endParaRPr lang="en-IN"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B01BF9-BE9E-52EC-E61F-BE213DBE6024}"/>
              </a:ext>
            </a:extLst>
          </p:cNvPr>
          <p:cNvSpPr>
            <a:spLocks noGrp="1"/>
          </p:cNvSpPr>
          <p:nvPr>
            <p:ph type="dt" sz="half" idx="10"/>
          </p:nvPr>
        </p:nvSpPr>
        <p:spPr/>
        <p:txBody>
          <a:bodyPr/>
          <a:lstStyle/>
          <a:p>
            <a:endParaRPr lang="en-US" dirty="0"/>
          </a:p>
        </p:txBody>
      </p:sp>
      <p:sp>
        <p:nvSpPr>
          <p:cNvPr id="10" name="TextBox 9">
            <a:extLst>
              <a:ext uri="{FF2B5EF4-FFF2-40B4-BE49-F238E27FC236}">
                <a16:creationId xmlns:a16="http://schemas.microsoft.com/office/drawing/2014/main" id="{5378424B-3009-D2AD-2FE3-C3837CF7ED6D}"/>
              </a:ext>
            </a:extLst>
          </p:cNvPr>
          <p:cNvSpPr txBox="1"/>
          <p:nvPr/>
        </p:nvSpPr>
        <p:spPr>
          <a:xfrm>
            <a:off x="833437" y="1056481"/>
            <a:ext cx="11582400" cy="4524315"/>
          </a:xfrm>
          <a:prstGeom prst="rect">
            <a:avLst/>
          </a:prstGeom>
          <a:noFill/>
        </p:spPr>
        <p:txBody>
          <a:bodyPr wrap="square" rtlCol="0">
            <a:spAutoFit/>
          </a:bodyPr>
          <a:lstStyle/>
          <a:p>
            <a:r>
              <a:rPr lang="en-US" sz="3600" dirty="0"/>
              <a:t>ABSTRACT:</a:t>
            </a:r>
          </a:p>
          <a:p>
            <a:pPr algn="just"/>
            <a:r>
              <a:rPr lang="en-US" sz="3600" dirty="0"/>
              <a:t>Electric vehicles (EVs) are gaining popularity worldwide due to their environmental benefits, reduced operating costs, and improved performance. This paper provides an in-depth analysis of EVs, including their types, battery technologies, charging methods, and research challenges. We will explore the current market situation, future prospects, and the role of EVs in smart cities.</a:t>
            </a:r>
            <a:endParaRPr lang="en-IN"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AFDF67-01D3-1BE6-F5C1-5C66C2C8DDDB}"/>
              </a:ext>
            </a:extLst>
          </p:cNvPr>
          <p:cNvSpPr txBox="1"/>
          <p:nvPr/>
        </p:nvSpPr>
        <p:spPr>
          <a:xfrm>
            <a:off x="1290637" y="904081"/>
            <a:ext cx="9753600" cy="446276"/>
          </a:xfrm>
          <a:prstGeom prst="rect">
            <a:avLst/>
          </a:prstGeom>
          <a:noFill/>
        </p:spPr>
        <p:txBody>
          <a:bodyPr wrap="square" rtlCol="0">
            <a:spAutoFit/>
          </a:bodyPr>
          <a:lstStyle/>
          <a:p>
            <a:pPr algn="ctr"/>
            <a:endParaRPr lang="en-IN" dirty="0"/>
          </a:p>
        </p:txBody>
      </p:sp>
      <p:sp>
        <p:nvSpPr>
          <p:cNvPr id="4" name="TextBox 3">
            <a:extLst>
              <a:ext uri="{FF2B5EF4-FFF2-40B4-BE49-F238E27FC236}">
                <a16:creationId xmlns:a16="http://schemas.microsoft.com/office/drawing/2014/main" id="{438DC752-CF6D-AB2D-A154-F1FC4167ED8A}"/>
              </a:ext>
            </a:extLst>
          </p:cNvPr>
          <p:cNvSpPr txBox="1"/>
          <p:nvPr/>
        </p:nvSpPr>
        <p:spPr>
          <a:xfrm>
            <a:off x="1747837" y="294481"/>
            <a:ext cx="8610600" cy="1107996"/>
          </a:xfrm>
          <a:prstGeom prst="rect">
            <a:avLst/>
          </a:prstGeom>
          <a:noFill/>
        </p:spPr>
        <p:txBody>
          <a:bodyPr wrap="square" rtlCol="0">
            <a:spAutoFit/>
          </a:bodyPr>
          <a:lstStyle/>
          <a:p>
            <a:pPr algn="ctr"/>
            <a:r>
              <a:rPr lang="en-US" sz="6600" dirty="0"/>
              <a:t>INTRODUCTION TO EV’s</a:t>
            </a:r>
            <a:endParaRPr lang="en-IN" sz="6600" dirty="0"/>
          </a:p>
        </p:txBody>
      </p:sp>
      <p:sp>
        <p:nvSpPr>
          <p:cNvPr id="5" name="TextBox 4">
            <a:extLst>
              <a:ext uri="{FF2B5EF4-FFF2-40B4-BE49-F238E27FC236}">
                <a16:creationId xmlns:a16="http://schemas.microsoft.com/office/drawing/2014/main" id="{3B27F995-7E7D-6497-90D1-3F889CCA8E5A}"/>
              </a:ext>
            </a:extLst>
          </p:cNvPr>
          <p:cNvSpPr txBox="1"/>
          <p:nvPr/>
        </p:nvSpPr>
        <p:spPr>
          <a:xfrm>
            <a:off x="757237" y="1970881"/>
            <a:ext cx="4953000" cy="4373248"/>
          </a:xfrm>
          <a:prstGeom prst="rect">
            <a:avLst/>
          </a:prstGeom>
          <a:noFill/>
        </p:spPr>
        <p:txBody>
          <a:bodyPr wrap="square" rtlCol="0">
            <a:spAutoFit/>
          </a:bodyPr>
          <a:lstStyle/>
          <a:p>
            <a:pPr marL="930321" lvl="1" indent="-342900">
              <a:lnSpc>
                <a:spcPct val="250000"/>
              </a:lnSpc>
              <a:buFont typeface="Wingdings" panose="05000000000000000000" pitchFamily="2" charset="2"/>
              <a:buChar char="Ø"/>
            </a:pPr>
            <a:r>
              <a:rPr lang="en-US" dirty="0"/>
              <a:t>History and Evolution EV’s</a:t>
            </a:r>
          </a:p>
          <a:p>
            <a:pPr marL="930321" lvl="1" indent="-342900">
              <a:lnSpc>
                <a:spcPct val="250000"/>
              </a:lnSpc>
              <a:buFont typeface="Wingdings" panose="05000000000000000000" pitchFamily="2" charset="2"/>
              <a:buChar char="Ø"/>
            </a:pPr>
            <a:r>
              <a:rPr lang="en-US" dirty="0"/>
              <a:t>Classification of EV’s</a:t>
            </a:r>
          </a:p>
          <a:p>
            <a:pPr marL="930321" lvl="1" indent="-342900">
              <a:lnSpc>
                <a:spcPct val="250000"/>
              </a:lnSpc>
              <a:buFont typeface="Wingdings" panose="05000000000000000000" pitchFamily="2" charset="2"/>
              <a:buChar char="Ø"/>
            </a:pPr>
            <a:r>
              <a:rPr lang="en-US" dirty="0"/>
              <a:t>Main Components in EV’s</a:t>
            </a:r>
          </a:p>
          <a:p>
            <a:pPr marL="930321" lvl="1" indent="-342900">
              <a:lnSpc>
                <a:spcPct val="250000"/>
              </a:lnSpc>
              <a:buFont typeface="Wingdings" panose="05000000000000000000" pitchFamily="2" charset="2"/>
              <a:buChar char="Ø"/>
            </a:pPr>
            <a:r>
              <a:rPr lang="en-US" dirty="0"/>
              <a:t>Principle of Operation</a:t>
            </a:r>
          </a:p>
          <a:p>
            <a:pPr marL="930321" lvl="1" indent="-342900">
              <a:lnSpc>
                <a:spcPct val="250000"/>
              </a:lnSpc>
              <a:buFont typeface="Wingdings" panose="05000000000000000000" pitchFamily="2" charset="2"/>
              <a:buChar char="Ø"/>
            </a:pPr>
            <a:r>
              <a:rPr lang="en-US" dirty="0"/>
              <a:t>Merits </a:t>
            </a:r>
            <a:r>
              <a:rPr lang="en-IN" dirty="0"/>
              <a:t>and Disadvantages</a:t>
            </a:r>
            <a:endParaRPr lang="en-US" dirty="0"/>
          </a:p>
        </p:txBody>
      </p:sp>
    </p:spTree>
    <p:extLst>
      <p:ext uri="{BB962C8B-B14F-4D97-AF65-F5344CB8AC3E}">
        <p14:creationId xmlns:p14="http://schemas.microsoft.com/office/powerpoint/2010/main" val="2241710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E1193A-CAE2-E176-1BCE-4A8CE9423571}"/>
              </a:ext>
            </a:extLst>
          </p:cNvPr>
          <p:cNvSpPr txBox="1"/>
          <p:nvPr/>
        </p:nvSpPr>
        <p:spPr>
          <a:xfrm>
            <a:off x="681037" y="294481"/>
            <a:ext cx="5562600" cy="769441"/>
          </a:xfrm>
          <a:prstGeom prst="rect">
            <a:avLst/>
          </a:prstGeom>
          <a:noFill/>
        </p:spPr>
        <p:txBody>
          <a:bodyPr wrap="square" rtlCol="0">
            <a:spAutoFit/>
          </a:bodyPr>
          <a:lstStyle/>
          <a:p>
            <a:r>
              <a:rPr lang="en-US" sz="4400" dirty="0"/>
              <a:t>HISTORY OF EV’s:</a:t>
            </a:r>
            <a:endParaRPr lang="en-IN" sz="4400" dirty="0"/>
          </a:p>
        </p:txBody>
      </p:sp>
      <p:sp>
        <p:nvSpPr>
          <p:cNvPr id="4" name="TextBox 3">
            <a:extLst>
              <a:ext uri="{FF2B5EF4-FFF2-40B4-BE49-F238E27FC236}">
                <a16:creationId xmlns:a16="http://schemas.microsoft.com/office/drawing/2014/main" id="{FC6FDB43-076B-F497-493A-0B26AE03469B}"/>
              </a:ext>
            </a:extLst>
          </p:cNvPr>
          <p:cNvSpPr txBox="1"/>
          <p:nvPr/>
        </p:nvSpPr>
        <p:spPr>
          <a:xfrm>
            <a:off x="681037" y="1361281"/>
            <a:ext cx="11125200" cy="5257800"/>
          </a:xfrm>
          <a:prstGeom prst="rect">
            <a:avLst/>
          </a:prstGeom>
          <a:noFill/>
        </p:spPr>
        <p:txBody>
          <a:bodyPr wrap="square" rtlCol="0">
            <a:spAutoFit/>
          </a:bodyPr>
          <a:lstStyle/>
          <a:p>
            <a:endParaRPr lang="en-IN" dirty="0"/>
          </a:p>
        </p:txBody>
      </p:sp>
      <p:pic>
        <p:nvPicPr>
          <p:cNvPr id="8" name="Picture 7">
            <a:extLst>
              <a:ext uri="{FF2B5EF4-FFF2-40B4-BE49-F238E27FC236}">
                <a16:creationId xmlns:a16="http://schemas.microsoft.com/office/drawing/2014/main" id="{16256421-4C45-3202-E080-16016CB124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237" y="1932781"/>
            <a:ext cx="9448800" cy="4114800"/>
          </a:xfrm>
          <a:prstGeom prst="rect">
            <a:avLst/>
          </a:prstGeom>
        </p:spPr>
      </p:pic>
    </p:spTree>
    <p:extLst>
      <p:ext uri="{BB962C8B-B14F-4D97-AF65-F5344CB8AC3E}">
        <p14:creationId xmlns:p14="http://schemas.microsoft.com/office/powerpoint/2010/main" val="3328258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244322-8092-6F72-64A0-2986AB27F6AC}"/>
              </a:ext>
            </a:extLst>
          </p:cNvPr>
          <p:cNvSpPr txBox="1"/>
          <p:nvPr/>
        </p:nvSpPr>
        <p:spPr>
          <a:xfrm>
            <a:off x="757237" y="733346"/>
            <a:ext cx="6324600" cy="707886"/>
          </a:xfrm>
          <a:prstGeom prst="rect">
            <a:avLst/>
          </a:prstGeom>
          <a:noFill/>
        </p:spPr>
        <p:txBody>
          <a:bodyPr wrap="square" rtlCol="0">
            <a:spAutoFit/>
          </a:bodyPr>
          <a:lstStyle/>
          <a:p>
            <a:r>
              <a:rPr lang="en-US" sz="4000" b="1" dirty="0"/>
              <a:t>CLASSIFICATIONS:</a:t>
            </a:r>
            <a:endParaRPr lang="en-IN" sz="4000" b="1" dirty="0"/>
          </a:p>
        </p:txBody>
      </p:sp>
      <p:sp>
        <p:nvSpPr>
          <p:cNvPr id="3" name="TextBox 2">
            <a:extLst>
              <a:ext uri="{FF2B5EF4-FFF2-40B4-BE49-F238E27FC236}">
                <a16:creationId xmlns:a16="http://schemas.microsoft.com/office/drawing/2014/main" id="{86C52020-D93E-3D59-C0CF-D83013BF81AB}"/>
              </a:ext>
            </a:extLst>
          </p:cNvPr>
          <p:cNvSpPr txBox="1"/>
          <p:nvPr/>
        </p:nvSpPr>
        <p:spPr>
          <a:xfrm>
            <a:off x="370952" y="2181860"/>
            <a:ext cx="8991600" cy="4401205"/>
          </a:xfrm>
          <a:prstGeom prst="rect">
            <a:avLst/>
          </a:prstGeom>
          <a:noFill/>
        </p:spPr>
        <p:txBody>
          <a:bodyPr wrap="square" rtlCol="0">
            <a:spAutoFit/>
          </a:bodyPr>
          <a:lstStyle/>
          <a:p>
            <a:r>
              <a:rPr lang="en-IN" sz="3600" b="1" dirty="0"/>
              <a:t>1. Battery Electric Vehicles (BEVs) </a:t>
            </a:r>
            <a:r>
              <a:rPr lang="en-IN" sz="2000" b="1" dirty="0"/>
              <a:t>:</a:t>
            </a:r>
            <a:endParaRPr lang="en-US" sz="2000" b="1" dirty="0"/>
          </a:p>
          <a:p>
            <a:pPr marL="342900" indent="-342900">
              <a:buFont typeface="Arial" panose="020B0604020202020204" pitchFamily="34" charset="0"/>
              <a:buChar char="•"/>
            </a:pPr>
            <a:r>
              <a:rPr lang="en-US" sz="2800" dirty="0"/>
              <a:t> BEVs are powered by a battery pack and electric motor.</a:t>
            </a:r>
          </a:p>
          <a:p>
            <a:pPr marL="342900" indent="-342900">
              <a:buFont typeface="Arial" panose="020B0604020202020204" pitchFamily="34" charset="0"/>
              <a:buChar char="•"/>
            </a:pPr>
            <a:r>
              <a:rPr lang="en-US" sz="2800" dirty="0"/>
              <a:t> BEVs produce no emissions, reducing air pollution and greenhouse gas emissions.</a:t>
            </a:r>
          </a:p>
          <a:p>
            <a:pPr marL="342900" indent="-342900">
              <a:buFont typeface="Arial" panose="020B0604020202020204" pitchFamily="34" charset="0"/>
              <a:buChar char="•"/>
            </a:pPr>
            <a:r>
              <a:rPr lang="en-US" sz="2800" dirty="0"/>
              <a:t> BEVs can be recharged from an external power source, such as a wall socket or charging station.</a:t>
            </a:r>
          </a:p>
          <a:p>
            <a:pPr marL="342900" indent="-342900">
              <a:buFont typeface="Arial" panose="020B0604020202020204" pitchFamily="34" charset="0"/>
              <a:buChar char="•"/>
            </a:pPr>
            <a:r>
              <a:rPr lang="en-US" sz="2800" dirty="0"/>
              <a:t>BEVs offer a sustainable and environmentally friendly transportation option, with benefits including lower operating costs and reduced dependence on fossil fuels.</a:t>
            </a:r>
            <a:endParaRPr lang="en-IN" sz="2800" dirty="0"/>
          </a:p>
          <a:p>
            <a:endParaRPr lang="en-US" sz="2000" b="1" dirty="0"/>
          </a:p>
        </p:txBody>
      </p:sp>
      <p:pic>
        <p:nvPicPr>
          <p:cNvPr id="5" name="Picture 4">
            <a:extLst>
              <a:ext uri="{FF2B5EF4-FFF2-40B4-BE49-F238E27FC236}">
                <a16:creationId xmlns:a16="http://schemas.microsoft.com/office/drawing/2014/main" id="{DCCE5AAD-E4D8-FC66-B82D-EFFB670E76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70050" y="1625898"/>
            <a:ext cx="3708273" cy="5428280"/>
          </a:xfrm>
          <a:prstGeom prst="rect">
            <a:avLst/>
          </a:prstGeom>
        </p:spPr>
      </p:pic>
    </p:spTree>
    <p:extLst>
      <p:ext uri="{BB962C8B-B14F-4D97-AF65-F5344CB8AC3E}">
        <p14:creationId xmlns:p14="http://schemas.microsoft.com/office/powerpoint/2010/main" val="1044445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3895C6-3B88-EA4B-96B8-FB6CFC8E82E7}"/>
              </a:ext>
            </a:extLst>
          </p:cNvPr>
          <p:cNvSpPr txBox="1"/>
          <p:nvPr/>
        </p:nvSpPr>
        <p:spPr>
          <a:xfrm>
            <a:off x="528637" y="4104481"/>
            <a:ext cx="8765251" cy="2308324"/>
          </a:xfrm>
          <a:prstGeom prst="rect">
            <a:avLst/>
          </a:prstGeom>
          <a:noFill/>
        </p:spPr>
        <p:txBody>
          <a:bodyPr wrap="square" rtlCol="0">
            <a:spAutoFit/>
          </a:bodyPr>
          <a:lstStyle/>
          <a:p>
            <a:r>
              <a:rPr lang="en-US" sz="2400" b="1" dirty="0"/>
              <a:t>3.  Plug In Hybrid Electric Vehicle(PHEVs):</a:t>
            </a:r>
          </a:p>
          <a:p>
            <a:pPr marL="457200" indent="-457200">
              <a:buFont typeface="Arial" panose="020B0604020202020204" pitchFamily="34" charset="0"/>
              <a:buChar char="•"/>
            </a:pPr>
            <a:r>
              <a:rPr lang="en-US" sz="2400" dirty="0"/>
              <a:t>PHEVs have both an electric motor and a gasoline engine.</a:t>
            </a:r>
          </a:p>
          <a:p>
            <a:pPr marL="457200" indent="-457200">
              <a:buFont typeface="Arial" panose="020B0604020202020204" pitchFamily="34" charset="0"/>
              <a:buChar char="•"/>
            </a:pPr>
            <a:r>
              <a:rPr lang="en-US" sz="2400" dirty="0"/>
              <a:t> PHEVs can be plugged into an external power source to recharge their battery.</a:t>
            </a:r>
          </a:p>
          <a:p>
            <a:pPr marL="457200" indent="-457200">
              <a:buFont typeface="Arial" panose="020B0604020202020204" pitchFamily="34" charset="0"/>
              <a:buChar char="•"/>
            </a:pPr>
            <a:r>
              <a:rPr lang="en-US" sz="2400" dirty="0"/>
              <a:t> PHEVs can run on electric power alone for a certain distance, then switch to gasoline power for extended range.</a:t>
            </a:r>
            <a:endParaRPr lang="en-IN" sz="2400" dirty="0"/>
          </a:p>
        </p:txBody>
      </p:sp>
      <p:pic>
        <p:nvPicPr>
          <p:cNvPr id="4" name="Picture 3">
            <a:extLst>
              <a:ext uri="{FF2B5EF4-FFF2-40B4-BE49-F238E27FC236}">
                <a16:creationId xmlns:a16="http://schemas.microsoft.com/office/drawing/2014/main" id="{E3C01DC1-D134-8FA8-3044-1550BABEC5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9237" y="3494881"/>
            <a:ext cx="3429000" cy="3875553"/>
          </a:xfrm>
          <a:prstGeom prst="rect">
            <a:avLst/>
          </a:prstGeom>
        </p:spPr>
      </p:pic>
      <p:sp>
        <p:nvSpPr>
          <p:cNvPr id="6" name="TextBox 5">
            <a:extLst>
              <a:ext uri="{FF2B5EF4-FFF2-40B4-BE49-F238E27FC236}">
                <a16:creationId xmlns:a16="http://schemas.microsoft.com/office/drawing/2014/main" id="{9705DC6C-67E6-F8F4-DCE9-778B20001845}"/>
              </a:ext>
            </a:extLst>
          </p:cNvPr>
          <p:cNvSpPr txBox="1"/>
          <p:nvPr/>
        </p:nvSpPr>
        <p:spPr>
          <a:xfrm>
            <a:off x="528637" y="667291"/>
            <a:ext cx="8382000" cy="3046988"/>
          </a:xfrm>
          <a:prstGeom prst="rect">
            <a:avLst/>
          </a:prstGeom>
          <a:noFill/>
        </p:spPr>
        <p:txBody>
          <a:bodyPr wrap="square" rtlCol="0">
            <a:spAutoFit/>
          </a:bodyPr>
          <a:lstStyle/>
          <a:p>
            <a:r>
              <a:rPr lang="en-US" sz="2400" b="1" dirty="0"/>
              <a:t>2. Hybrid Electric Vehicle:</a:t>
            </a:r>
          </a:p>
          <a:p>
            <a:pPr marL="457200" indent="-457200">
              <a:buFont typeface="Arial" panose="020B0604020202020204" pitchFamily="34" charset="0"/>
              <a:buChar char="•"/>
            </a:pPr>
            <a:r>
              <a:rPr lang="en-US" sz="2400" dirty="0"/>
              <a:t>HEVs have both an electric motor and a gasoline engine.</a:t>
            </a:r>
          </a:p>
          <a:p>
            <a:pPr marL="457200" indent="-457200">
              <a:buFont typeface="Arial" panose="020B0604020202020204" pitchFamily="34" charset="0"/>
              <a:buChar char="•"/>
            </a:pPr>
            <a:r>
              <a:rPr lang="en-US" sz="2400" dirty="0"/>
              <a:t> HEVs cannot be plugged into an external power source; instead, they recharge their battery through regenerative braking and engine power.</a:t>
            </a:r>
          </a:p>
          <a:p>
            <a:pPr marL="457200" indent="-457200">
              <a:buFont typeface="Arial" panose="020B0604020202020204" pitchFamily="34" charset="0"/>
              <a:buChar char="•"/>
            </a:pPr>
            <a:r>
              <a:rPr lang="en-US" sz="2400" dirty="0"/>
              <a:t> HEVs optimize fuel efficiency by using electric power to assist the gasoline engine.</a:t>
            </a:r>
          </a:p>
          <a:p>
            <a:pPr marL="457200" indent="-457200">
              <a:buAutoNum type="arabicPeriod"/>
            </a:pPr>
            <a:endParaRPr lang="en-IN" sz="2400" dirty="0"/>
          </a:p>
        </p:txBody>
      </p:sp>
      <p:pic>
        <p:nvPicPr>
          <p:cNvPr id="14" name="Picture 13">
            <a:extLst>
              <a:ext uri="{FF2B5EF4-FFF2-40B4-BE49-F238E27FC236}">
                <a16:creationId xmlns:a16="http://schemas.microsoft.com/office/drawing/2014/main" id="{FCA8C406-574E-2BC5-FAD8-0E14E69EBC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9237" y="0"/>
            <a:ext cx="3276600" cy="3381375"/>
          </a:xfrm>
          <a:prstGeom prst="rect">
            <a:avLst/>
          </a:prstGeom>
        </p:spPr>
      </p:pic>
    </p:spTree>
    <p:extLst>
      <p:ext uri="{BB962C8B-B14F-4D97-AF65-F5344CB8AC3E}">
        <p14:creationId xmlns:p14="http://schemas.microsoft.com/office/powerpoint/2010/main" val="1537634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135611-4836-08C1-1728-040036025AEF}"/>
              </a:ext>
            </a:extLst>
          </p:cNvPr>
          <p:cNvSpPr txBox="1"/>
          <p:nvPr/>
        </p:nvSpPr>
        <p:spPr>
          <a:xfrm>
            <a:off x="376237" y="294481"/>
            <a:ext cx="8534400" cy="3031599"/>
          </a:xfrm>
          <a:prstGeom prst="rect">
            <a:avLst/>
          </a:prstGeom>
          <a:noFill/>
        </p:spPr>
        <p:txBody>
          <a:bodyPr wrap="square" rtlCol="0">
            <a:spAutoFit/>
          </a:bodyPr>
          <a:lstStyle/>
          <a:p>
            <a:r>
              <a:rPr lang="en-US" b="1" dirty="0"/>
              <a:t>4. Fuel Cell Electric Vehicle(FCEVs):</a:t>
            </a:r>
          </a:p>
          <a:p>
            <a:pPr marL="342900" indent="-342900">
              <a:buFont typeface="Arial" panose="020B0604020202020204" pitchFamily="34" charset="0"/>
              <a:buChar char="•"/>
            </a:pPr>
            <a:r>
              <a:rPr lang="en-IN" sz="2400" dirty="0"/>
              <a:t>FCEVs generate electricity from hydrogen, which powers an electric motor.</a:t>
            </a:r>
          </a:p>
          <a:p>
            <a:pPr marL="342900" indent="-342900">
              <a:buFont typeface="Arial" panose="020B0604020202020204" pitchFamily="34" charset="0"/>
              <a:buChar char="•"/>
            </a:pPr>
            <a:r>
              <a:rPr lang="en-IN" sz="2400" dirty="0"/>
              <a:t>FCEVs produce only water vapor and heat as byproducts.</a:t>
            </a:r>
          </a:p>
          <a:p>
            <a:pPr marL="342900" indent="-342900">
              <a:buFont typeface="Arial" panose="020B0604020202020204" pitchFamily="34" charset="0"/>
              <a:buChar char="•"/>
            </a:pPr>
            <a:r>
              <a:rPr lang="en-IN" sz="2400" dirty="0"/>
              <a:t>FCEVs can be </a:t>
            </a:r>
            <a:r>
              <a:rPr lang="en-IN" sz="2400" dirty="0" err="1"/>
              <a:t>refueled</a:t>
            </a:r>
            <a:r>
              <a:rPr lang="en-IN" sz="2400" dirty="0"/>
              <a:t> quickly, similar to gasoline vehicles.</a:t>
            </a:r>
          </a:p>
          <a:p>
            <a:pPr marL="342900" indent="-342900">
              <a:buFont typeface="Arial" panose="020B0604020202020204" pitchFamily="34" charset="0"/>
              <a:buChar char="•"/>
            </a:pPr>
            <a:r>
              <a:rPr lang="en-IN" sz="2400" dirty="0"/>
              <a:t>FCEVs offer a promising alternative to traditional fossil fuel-based transportation, with benefits including reduced greenhouse gas emissions and improved energy efficiency.</a:t>
            </a:r>
          </a:p>
        </p:txBody>
      </p:sp>
      <p:pic>
        <p:nvPicPr>
          <p:cNvPr id="1026" name="Picture 2" descr="Architectural diagram of fuel-cell electric vehicles (FCEVs ...">
            <a:extLst>
              <a:ext uri="{FF2B5EF4-FFF2-40B4-BE49-F238E27FC236}">
                <a16:creationId xmlns:a16="http://schemas.microsoft.com/office/drawing/2014/main" id="{8CF59E73-653D-CD45-A505-3F3B246D45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1881" y="0"/>
            <a:ext cx="3554721" cy="325779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F678D046-B41A-BCCF-609D-61B1925312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9237" y="3624213"/>
            <a:ext cx="4022003" cy="3672036"/>
          </a:xfrm>
          <a:prstGeom prst="rect">
            <a:avLst/>
          </a:prstGeom>
        </p:spPr>
      </p:pic>
      <p:sp>
        <p:nvSpPr>
          <p:cNvPr id="6" name="TextBox 5">
            <a:extLst>
              <a:ext uri="{FF2B5EF4-FFF2-40B4-BE49-F238E27FC236}">
                <a16:creationId xmlns:a16="http://schemas.microsoft.com/office/drawing/2014/main" id="{C1909E36-560F-6ECE-4F7F-46801E993E12}"/>
              </a:ext>
            </a:extLst>
          </p:cNvPr>
          <p:cNvSpPr txBox="1"/>
          <p:nvPr/>
        </p:nvSpPr>
        <p:spPr>
          <a:xfrm>
            <a:off x="10815637" y="73147"/>
            <a:ext cx="1295400" cy="446276"/>
          </a:xfrm>
          <a:prstGeom prst="rect">
            <a:avLst/>
          </a:prstGeom>
          <a:noFill/>
        </p:spPr>
        <p:txBody>
          <a:bodyPr wrap="square" rtlCol="0">
            <a:spAutoFit/>
          </a:bodyPr>
          <a:lstStyle/>
          <a:p>
            <a:r>
              <a:rPr lang="en-US" dirty="0"/>
              <a:t>FCEV</a:t>
            </a:r>
            <a:endParaRPr lang="en-IN" dirty="0"/>
          </a:p>
        </p:txBody>
      </p:sp>
      <p:sp>
        <p:nvSpPr>
          <p:cNvPr id="7" name="TextBox 6">
            <a:extLst>
              <a:ext uri="{FF2B5EF4-FFF2-40B4-BE49-F238E27FC236}">
                <a16:creationId xmlns:a16="http://schemas.microsoft.com/office/drawing/2014/main" id="{86487A31-8402-FE4E-E319-189B1DC6BC30}"/>
              </a:ext>
            </a:extLst>
          </p:cNvPr>
          <p:cNvSpPr txBox="1"/>
          <p:nvPr/>
        </p:nvSpPr>
        <p:spPr>
          <a:xfrm>
            <a:off x="604837" y="3723481"/>
            <a:ext cx="8153400" cy="2923877"/>
          </a:xfrm>
          <a:prstGeom prst="rect">
            <a:avLst/>
          </a:prstGeom>
          <a:noFill/>
        </p:spPr>
        <p:txBody>
          <a:bodyPr wrap="square" rtlCol="0">
            <a:spAutoFit/>
          </a:bodyPr>
          <a:lstStyle/>
          <a:p>
            <a:r>
              <a:rPr lang="en-US" b="1" dirty="0"/>
              <a:t>5. Mild Hybrid Electric Vehicle(MHEVs):</a:t>
            </a:r>
          </a:p>
          <a:p>
            <a:pPr marL="342900" indent="-342900">
              <a:buFont typeface="Arial" panose="020B0604020202020204" pitchFamily="34" charset="0"/>
              <a:buChar char="•"/>
            </a:pPr>
            <a:r>
              <a:rPr lang="en-US" dirty="0"/>
              <a:t> Electric motor provides additional power during acceleration.</a:t>
            </a:r>
          </a:p>
          <a:p>
            <a:pPr marL="342900" indent="-342900">
              <a:buFont typeface="Arial" panose="020B0604020202020204" pitchFamily="34" charset="0"/>
              <a:buChar char="•"/>
            </a:pPr>
            <a:r>
              <a:rPr lang="en-US" dirty="0"/>
              <a:t> Captures kinetic energy and converts it into electrical energy.</a:t>
            </a:r>
          </a:p>
          <a:p>
            <a:pPr marL="342900" indent="-342900">
              <a:buFont typeface="Arial" panose="020B0604020202020204" pitchFamily="34" charset="0"/>
              <a:buChar char="•"/>
            </a:pPr>
            <a:r>
              <a:rPr lang="en-US" dirty="0"/>
              <a:t> Gasoline engine is always required.</a:t>
            </a:r>
          </a:p>
          <a:p>
            <a:pPr marL="342900" indent="-342900">
              <a:buFont typeface="Arial" panose="020B0604020202020204" pitchFamily="34" charset="0"/>
              <a:buChar char="•"/>
            </a:pPr>
            <a:r>
              <a:rPr lang="en-US" dirty="0"/>
              <a:t>MHEVs offer a balance between fuel efficiency and affordability, making them a popular choice for those seeking a more efficient vehicle.</a:t>
            </a:r>
          </a:p>
          <a:p>
            <a:endParaRPr lang="en-IN" b="1" dirty="0"/>
          </a:p>
        </p:txBody>
      </p:sp>
      <p:sp>
        <p:nvSpPr>
          <p:cNvPr id="8" name="TextBox 7">
            <a:extLst>
              <a:ext uri="{FF2B5EF4-FFF2-40B4-BE49-F238E27FC236}">
                <a16:creationId xmlns:a16="http://schemas.microsoft.com/office/drawing/2014/main" id="{58B649B1-2E9F-E914-7A59-5435EEC03C72}"/>
              </a:ext>
            </a:extLst>
          </p:cNvPr>
          <p:cNvSpPr txBox="1"/>
          <p:nvPr/>
        </p:nvSpPr>
        <p:spPr>
          <a:xfrm>
            <a:off x="10510837" y="6771481"/>
            <a:ext cx="1524000" cy="461665"/>
          </a:xfrm>
          <a:prstGeom prst="rect">
            <a:avLst/>
          </a:prstGeom>
          <a:noFill/>
        </p:spPr>
        <p:txBody>
          <a:bodyPr wrap="square" rtlCol="0">
            <a:spAutoFit/>
          </a:bodyPr>
          <a:lstStyle/>
          <a:p>
            <a:r>
              <a:rPr lang="en-US" sz="2400" b="1" dirty="0"/>
              <a:t>MHEV</a:t>
            </a:r>
            <a:endParaRPr lang="en-IN" sz="2400" b="1" dirty="0"/>
          </a:p>
        </p:txBody>
      </p:sp>
    </p:spTree>
    <p:extLst>
      <p:ext uri="{BB962C8B-B14F-4D97-AF65-F5344CB8AC3E}">
        <p14:creationId xmlns:p14="http://schemas.microsoft.com/office/powerpoint/2010/main" val="3304677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6D6A47-6C75-35CB-430A-D960DDBE52E9}"/>
              </a:ext>
            </a:extLst>
          </p:cNvPr>
          <p:cNvSpPr txBox="1"/>
          <p:nvPr/>
        </p:nvSpPr>
        <p:spPr>
          <a:xfrm>
            <a:off x="757237" y="446881"/>
            <a:ext cx="7848600" cy="707886"/>
          </a:xfrm>
          <a:prstGeom prst="rect">
            <a:avLst/>
          </a:prstGeom>
          <a:noFill/>
        </p:spPr>
        <p:txBody>
          <a:bodyPr wrap="square" rtlCol="0">
            <a:spAutoFit/>
          </a:bodyPr>
          <a:lstStyle/>
          <a:p>
            <a:r>
              <a:rPr lang="en-US" sz="4000" dirty="0"/>
              <a:t>MAIN COMPONENTS IN EV’S</a:t>
            </a:r>
            <a:endParaRPr lang="en-IN" sz="4000" dirty="0"/>
          </a:p>
        </p:txBody>
      </p:sp>
      <p:sp>
        <p:nvSpPr>
          <p:cNvPr id="3" name="TextBox 2">
            <a:extLst>
              <a:ext uri="{FF2B5EF4-FFF2-40B4-BE49-F238E27FC236}">
                <a16:creationId xmlns:a16="http://schemas.microsoft.com/office/drawing/2014/main" id="{29816A7A-17D6-30EC-A163-FFBD899D1713}"/>
              </a:ext>
            </a:extLst>
          </p:cNvPr>
          <p:cNvSpPr txBox="1"/>
          <p:nvPr/>
        </p:nvSpPr>
        <p:spPr>
          <a:xfrm>
            <a:off x="833437" y="1437481"/>
            <a:ext cx="11811000" cy="5632311"/>
          </a:xfrm>
          <a:prstGeom prst="rect">
            <a:avLst/>
          </a:prstGeom>
          <a:noFill/>
        </p:spPr>
        <p:txBody>
          <a:bodyPr wrap="square" rtlCol="0">
            <a:spAutoFit/>
          </a:bodyPr>
          <a:lstStyle/>
          <a:p>
            <a:pPr marL="457200" indent="-457200">
              <a:buAutoNum type="arabicPeriod"/>
            </a:pPr>
            <a:r>
              <a:rPr lang="en-US" sz="2400" b="1" dirty="0"/>
              <a:t>Electric Motor: </a:t>
            </a:r>
            <a:r>
              <a:rPr lang="en-US" sz="2400" dirty="0"/>
              <a:t>Converts electrical energy into mechanical energy to propel the vehicle.</a:t>
            </a:r>
          </a:p>
          <a:p>
            <a:pPr marL="457200" indent="-457200">
              <a:buAutoNum type="arabicPeriod"/>
            </a:pPr>
            <a:r>
              <a:rPr lang="en-US" sz="2400" b="1" dirty="0"/>
              <a:t>Battery Pack: </a:t>
            </a:r>
            <a:r>
              <a:rPr lang="en-US" sz="2400" dirty="0"/>
              <a:t>Stores electrical energy for the vehicle, typically using lithium-ion batteries.</a:t>
            </a:r>
          </a:p>
          <a:p>
            <a:pPr marL="457200" indent="-457200">
              <a:buAutoNum type="arabicPeriod"/>
            </a:pPr>
            <a:r>
              <a:rPr lang="en-US" sz="2400" b="1" dirty="0"/>
              <a:t>Power Electronics Controller: </a:t>
            </a:r>
            <a:r>
              <a:rPr lang="en-US" sz="2400" dirty="0"/>
              <a:t>Manages the flow of electrical energy between the battery, motor, and other components.</a:t>
            </a:r>
          </a:p>
          <a:p>
            <a:pPr marL="457200" indent="-457200">
              <a:buAutoNum type="arabicPeriod"/>
            </a:pPr>
            <a:r>
              <a:rPr lang="en-US" sz="2400" b="1" dirty="0"/>
              <a:t> Charging System: </a:t>
            </a:r>
            <a:r>
              <a:rPr lang="en-US" sz="2400" dirty="0"/>
              <a:t>Allows the vehicle to recharge its battery from an external power    source.</a:t>
            </a:r>
          </a:p>
          <a:p>
            <a:pPr marL="457200" indent="-457200">
              <a:buAutoNum type="arabicPeriod"/>
            </a:pPr>
            <a:r>
              <a:rPr lang="en-US" sz="2400" b="1" dirty="0"/>
              <a:t> Transmission: </a:t>
            </a:r>
            <a:r>
              <a:rPr lang="en-US" sz="2400" dirty="0"/>
              <a:t>Transfers power from the electric motor to the wheels</a:t>
            </a:r>
          </a:p>
          <a:p>
            <a:pPr marL="457200" indent="-457200">
              <a:buAutoNum type="arabicPeriod"/>
            </a:pPr>
            <a:r>
              <a:rPr lang="en-US" sz="2400" b="1" dirty="0"/>
              <a:t> Regenerative Braking System: </a:t>
            </a:r>
            <a:r>
              <a:rPr lang="en-US" sz="2400" dirty="0"/>
              <a:t>Captures kinetic energy and converts it into electrical energy to recharge the battery.</a:t>
            </a:r>
          </a:p>
          <a:p>
            <a:pPr marL="457200" indent="-457200">
              <a:buAutoNum type="arabicPeriod"/>
            </a:pPr>
            <a:r>
              <a:rPr lang="en-US" sz="2400" b="1" dirty="0"/>
              <a:t>Battery Management System (BMS): </a:t>
            </a:r>
            <a:r>
              <a:rPr lang="en-US" sz="2400" dirty="0"/>
              <a:t>Monitors and controls the battery's state of charge, health, and safety.</a:t>
            </a:r>
          </a:p>
          <a:p>
            <a:pPr marL="457200" indent="-457200">
              <a:buAutoNum type="arabicPeriod"/>
            </a:pPr>
            <a:r>
              <a:rPr lang="en-US" sz="2400" b="1" dirty="0"/>
              <a:t> Thermal Management System: </a:t>
            </a:r>
            <a:r>
              <a:rPr lang="en-US" sz="2400" dirty="0"/>
              <a:t>Regulates the temperature of the battery and other components to ensure optimal performance and longevity.</a:t>
            </a:r>
          </a:p>
          <a:p>
            <a:pPr marL="457200" indent="-457200">
              <a:buAutoNum type="arabicPeriod"/>
            </a:pPr>
            <a:r>
              <a:rPr lang="en-US" sz="2400" b="1" dirty="0"/>
              <a:t>Chassis &amp;Body</a:t>
            </a:r>
            <a:r>
              <a:rPr lang="en-US" sz="2400" dirty="0"/>
              <a:t>:(monocoque or skateboard platform) – Houses the battery pack at the floor for stability.</a:t>
            </a:r>
            <a:endParaRPr lang="en-IN" sz="2400" dirty="0"/>
          </a:p>
        </p:txBody>
      </p:sp>
    </p:spTree>
    <p:extLst>
      <p:ext uri="{BB962C8B-B14F-4D97-AF65-F5344CB8AC3E}">
        <p14:creationId xmlns:p14="http://schemas.microsoft.com/office/powerpoint/2010/main" val="3453204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CFBCAC-0D19-A883-571D-7373B2C1B187}"/>
              </a:ext>
            </a:extLst>
          </p:cNvPr>
          <p:cNvSpPr txBox="1"/>
          <p:nvPr/>
        </p:nvSpPr>
        <p:spPr>
          <a:xfrm>
            <a:off x="376237" y="370681"/>
            <a:ext cx="12801600" cy="1508105"/>
          </a:xfrm>
          <a:prstGeom prst="rect">
            <a:avLst/>
          </a:prstGeom>
          <a:noFill/>
        </p:spPr>
        <p:txBody>
          <a:bodyPr wrap="square" rtlCol="0">
            <a:spAutoFit/>
          </a:bodyPr>
          <a:lstStyle/>
          <a:p>
            <a:r>
              <a:rPr lang="en-US" b="1" dirty="0"/>
              <a:t>PRINCIPLE OF OPERATION: </a:t>
            </a:r>
            <a:r>
              <a:rPr lang="en-US" dirty="0"/>
              <a:t>Electric vehicles operate on the principle of converting electrical energy stored in a battery into mechanical energy to propel the vehicle. </a:t>
            </a:r>
          </a:p>
          <a:p>
            <a:endParaRPr lang="en-US" dirty="0"/>
          </a:p>
          <a:p>
            <a:r>
              <a:rPr lang="en-US" dirty="0"/>
              <a:t>                   Battery → Power Electronics → Electric Motor → Transmission → Wheels</a:t>
            </a:r>
            <a:endParaRPr lang="en-IN" dirty="0"/>
          </a:p>
        </p:txBody>
      </p:sp>
      <p:pic>
        <p:nvPicPr>
          <p:cNvPr id="4" name="Picture 3">
            <a:extLst>
              <a:ext uri="{FF2B5EF4-FFF2-40B4-BE49-F238E27FC236}">
                <a16:creationId xmlns:a16="http://schemas.microsoft.com/office/drawing/2014/main" id="{288F79C8-EA25-40C5-355F-1027EC4A9E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9837" y="2199481"/>
            <a:ext cx="7218995" cy="4588858"/>
          </a:xfrm>
          <a:prstGeom prst="rect">
            <a:avLst/>
          </a:prstGeom>
        </p:spPr>
      </p:pic>
    </p:spTree>
    <p:extLst>
      <p:ext uri="{BB962C8B-B14F-4D97-AF65-F5344CB8AC3E}">
        <p14:creationId xmlns:p14="http://schemas.microsoft.com/office/powerpoint/2010/main" val="1598505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F9980E-8A41-14A3-2DD0-262F4696B3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36" y="116483"/>
            <a:ext cx="10777335" cy="7188398"/>
          </a:xfrm>
          <a:prstGeom prst="rect">
            <a:avLst/>
          </a:prstGeom>
        </p:spPr>
      </p:pic>
    </p:spTree>
    <p:extLst>
      <p:ext uri="{BB962C8B-B14F-4D97-AF65-F5344CB8AC3E}">
        <p14:creationId xmlns:p14="http://schemas.microsoft.com/office/powerpoint/2010/main" val="330940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A54DF-4C6D-2356-8BAE-E13713A01DA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38A6BE4-F949-E2A3-D4DD-1287D99789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3249275" cy="7381081"/>
          </a:xfrm>
          <a:prstGeom prst="rect">
            <a:avLst/>
          </a:prstGeom>
        </p:spPr>
      </p:pic>
    </p:spTree>
    <p:extLst>
      <p:ext uri="{BB962C8B-B14F-4D97-AF65-F5344CB8AC3E}">
        <p14:creationId xmlns:p14="http://schemas.microsoft.com/office/powerpoint/2010/main" val="2711191253"/>
      </p:ext>
    </p:extLst>
  </p:cSld>
  <p:clrMapOvr>
    <a:masterClrMapping/>
  </p:clrMapOvr>
</p:sld>
</file>

<file path=ppt/theme/theme1.xml><?xml version="1.0" encoding="utf-8"?>
<a:theme xmlns:a="http://schemas.openxmlformats.org/drawingml/2006/main" name="DIE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DIET</Template>
  <TotalTime>667</TotalTime>
  <Words>661</Words>
  <Application>Microsoft Office PowerPoint</Application>
  <PresentationFormat>Custom</PresentationFormat>
  <Paragraphs>65</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Wingdings</vt:lpstr>
      <vt:lpstr>DIET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Dr.M ARUNA</dc:creator>
  <cp:lastModifiedBy>Mounika Rayapalli</cp:lastModifiedBy>
  <cp:revision>95</cp:revision>
  <dcterms:created xsi:type="dcterms:W3CDTF">2006-08-16T00:00:00Z</dcterms:created>
  <dcterms:modified xsi:type="dcterms:W3CDTF">2025-09-06T16:34:53Z</dcterms:modified>
</cp:coreProperties>
</file>