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handoutMasterIdLst>
    <p:handoutMasterId r:id="rId21"/>
  </p:handoutMasterIdLst>
  <p:sldIdLst>
    <p:sldId id="256" r:id="rId2"/>
    <p:sldId id="257" r:id="rId3"/>
    <p:sldId id="318" r:id="rId4"/>
    <p:sldId id="319" r:id="rId5"/>
    <p:sldId id="320" r:id="rId6"/>
    <p:sldId id="324" r:id="rId7"/>
    <p:sldId id="325" r:id="rId8"/>
    <p:sldId id="321" r:id="rId9"/>
    <p:sldId id="326" r:id="rId10"/>
    <p:sldId id="327" r:id="rId11"/>
    <p:sldId id="328" r:id="rId12"/>
    <p:sldId id="329" r:id="rId13"/>
    <p:sldId id="330" r:id="rId14"/>
    <p:sldId id="322" r:id="rId15"/>
    <p:sldId id="331" r:id="rId16"/>
    <p:sldId id="332" r:id="rId17"/>
    <p:sldId id="323" r:id="rId18"/>
    <p:sldId id="317" r:id="rId19"/>
  </p:sldIdLst>
  <p:sldSz cx="13249275" cy="8208963"/>
  <p:notesSz cx="6858000" cy="9144000"/>
  <p:defaultTextStyle>
    <a:defPPr>
      <a:defRPr lang="en-US"/>
    </a:defPPr>
    <a:lvl1pPr marL="0" algn="l" defTabSz="1174842" rtl="0" eaLnBrk="1" latinLnBrk="0" hangingPunct="1">
      <a:defRPr sz="2300" kern="1200">
        <a:solidFill>
          <a:schemeClr val="tx1"/>
        </a:solidFill>
        <a:latin typeface="+mn-lt"/>
        <a:ea typeface="+mn-ea"/>
        <a:cs typeface="+mn-cs"/>
      </a:defRPr>
    </a:lvl1pPr>
    <a:lvl2pPr marL="587421" algn="l" defTabSz="1174842" rtl="0" eaLnBrk="1" latinLnBrk="0" hangingPunct="1">
      <a:defRPr sz="2300" kern="1200">
        <a:solidFill>
          <a:schemeClr val="tx1"/>
        </a:solidFill>
        <a:latin typeface="+mn-lt"/>
        <a:ea typeface="+mn-ea"/>
        <a:cs typeface="+mn-cs"/>
      </a:defRPr>
    </a:lvl2pPr>
    <a:lvl3pPr marL="1174842" algn="l" defTabSz="1174842" rtl="0" eaLnBrk="1" latinLnBrk="0" hangingPunct="1">
      <a:defRPr sz="2300" kern="1200">
        <a:solidFill>
          <a:schemeClr val="tx1"/>
        </a:solidFill>
        <a:latin typeface="+mn-lt"/>
        <a:ea typeface="+mn-ea"/>
        <a:cs typeface="+mn-cs"/>
      </a:defRPr>
    </a:lvl3pPr>
    <a:lvl4pPr marL="1762261" algn="l" defTabSz="1174842" rtl="0" eaLnBrk="1" latinLnBrk="0" hangingPunct="1">
      <a:defRPr sz="2300" kern="1200">
        <a:solidFill>
          <a:schemeClr val="tx1"/>
        </a:solidFill>
        <a:latin typeface="+mn-lt"/>
        <a:ea typeface="+mn-ea"/>
        <a:cs typeface="+mn-cs"/>
      </a:defRPr>
    </a:lvl4pPr>
    <a:lvl5pPr marL="2349682" algn="l" defTabSz="1174842" rtl="0" eaLnBrk="1" latinLnBrk="0" hangingPunct="1">
      <a:defRPr sz="2300" kern="1200">
        <a:solidFill>
          <a:schemeClr val="tx1"/>
        </a:solidFill>
        <a:latin typeface="+mn-lt"/>
        <a:ea typeface="+mn-ea"/>
        <a:cs typeface="+mn-cs"/>
      </a:defRPr>
    </a:lvl5pPr>
    <a:lvl6pPr marL="2937103" algn="l" defTabSz="1174842" rtl="0" eaLnBrk="1" latinLnBrk="0" hangingPunct="1">
      <a:defRPr sz="2300" kern="1200">
        <a:solidFill>
          <a:schemeClr val="tx1"/>
        </a:solidFill>
        <a:latin typeface="+mn-lt"/>
        <a:ea typeface="+mn-ea"/>
        <a:cs typeface="+mn-cs"/>
      </a:defRPr>
    </a:lvl6pPr>
    <a:lvl7pPr marL="3524524" algn="l" defTabSz="1174842" rtl="0" eaLnBrk="1" latinLnBrk="0" hangingPunct="1">
      <a:defRPr sz="2300" kern="1200">
        <a:solidFill>
          <a:schemeClr val="tx1"/>
        </a:solidFill>
        <a:latin typeface="+mn-lt"/>
        <a:ea typeface="+mn-ea"/>
        <a:cs typeface="+mn-cs"/>
      </a:defRPr>
    </a:lvl7pPr>
    <a:lvl8pPr marL="4111945" algn="l" defTabSz="1174842" rtl="0" eaLnBrk="1" latinLnBrk="0" hangingPunct="1">
      <a:defRPr sz="2300" kern="1200">
        <a:solidFill>
          <a:schemeClr val="tx1"/>
        </a:solidFill>
        <a:latin typeface="+mn-lt"/>
        <a:ea typeface="+mn-ea"/>
        <a:cs typeface="+mn-cs"/>
      </a:defRPr>
    </a:lvl8pPr>
    <a:lvl9pPr marL="4699364" algn="l" defTabSz="1174842" rtl="0" eaLnBrk="1" latinLnBrk="0" hangingPunct="1">
      <a:defRPr sz="2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86">
          <p15:clr>
            <a:srgbClr val="A4A3A4"/>
          </p15:clr>
        </p15:guide>
        <p15:guide id="2" pos="417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0" autoAdjust="0"/>
    <p:restoredTop sz="94616" autoAdjust="0"/>
  </p:normalViewPr>
  <p:slideViewPr>
    <p:cSldViewPr>
      <p:cViewPr>
        <p:scale>
          <a:sx n="76" d="100"/>
          <a:sy n="76" d="100"/>
        </p:scale>
        <p:origin x="662" y="58"/>
      </p:cViewPr>
      <p:guideLst>
        <p:guide orient="horz" pos="2586"/>
        <p:guide pos="417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7" d="100"/>
          <a:sy n="47" d="100"/>
        </p:scale>
        <p:origin x="-2696" y="-6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C198617-6044-49B0-85CA-920C7AF7B7C6}" type="datetimeFigureOut">
              <a:rPr lang="en-US" smtClean="0"/>
              <a:pPr/>
              <a:t>9/7/2025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8169427-53AA-4C70-A44B-182BDF165E25}" type="slidenum">
              <a:rPr lang="en-US" smtClean="0"/>
              <a:pPr/>
              <a:t>‹#›</a:t>
            </a:fld>
            <a:endParaRPr lang="en-US" dirty="0"/>
          </a:p>
        </p:txBody>
      </p:sp>
    </p:spTree>
    <p:extLst>
      <p:ext uri="{BB962C8B-B14F-4D97-AF65-F5344CB8AC3E}">
        <p14:creationId xmlns:p14="http://schemas.microsoft.com/office/powerpoint/2010/main" val="1798925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1F20EF-CDC5-44A5-9FE5-ADCA7F6FC3FA}" type="datetimeFigureOut">
              <a:rPr lang="en-US" smtClean="0"/>
              <a:pPr/>
              <a:t>9/7/2025</a:t>
            </a:fld>
            <a:endParaRPr lang="en-US" dirty="0"/>
          </a:p>
        </p:txBody>
      </p:sp>
      <p:sp>
        <p:nvSpPr>
          <p:cNvPr id="4" name="Slide Image Placeholder 3"/>
          <p:cNvSpPr>
            <a:spLocks noGrp="1" noRot="1" noChangeAspect="1"/>
          </p:cNvSpPr>
          <p:nvPr>
            <p:ph type="sldImg" idx="2"/>
          </p:nvPr>
        </p:nvSpPr>
        <p:spPr>
          <a:xfrm>
            <a:off x="661988" y="685800"/>
            <a:ext cx="55340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399ABCE-5995-4C0B-85B0-A94E0DEF7190}" type="slidenum">
              <a:rPr lang="en-US" smtClean="0"/>
              <a:pPr/>
              <a:t>‹#›</a:t>
            </a:fld>
            <a:endParaRPr lang="en-US" dirty="0"/>
          </a:p>
        </p:txBody>
      </p:sp>
    </p:spTree>
    <p:extLst>
      <p:ext uri="{BB962C8B-B14F-4D97-AF65-F5344CB8AC3E}">
        <p14:creationId xmlns:p14="http://schemas.microsoft.com/office/powerpoint/2010/main" val="471242652"/>
      </p:ext>
    </p:extLst>
  </p:cSld>
  <p:clrMap bg1="lt1" tx1="dk1" bg2="lt2" tx2="dk2" accent1="accent1" accent2="accent2" accent3="accent3" accent4="accent4" accent5="accent5" accent6="accent6" hlink="hlink" folHlink="folHlink"/>
  <p:notesStyle>
    <a:lvl1pPr marL="0" algn="l" defTabSz="1174842" rtl="0" eaLnBrk="1" latinLnBrk="0" hangingPunct="1">
      <a:defRPr sz="1600" kern="1200">
        <a:solidFill>
          <a:schemeClr val="tx1"/>
        </a:solidFill>
        <a:latin typeface="+mn-lt"/>
        <a:ea typeface="+mn-ea"/>
        <a:cs typeface="+mn-cs"/>
      </a:defRPr>
    </a:lvl1pPr>
    <a:lvl2pPr marL="587421" algn="l" defTabSz="1174842" rtl="0" eaLnBrk="1" latinLnBrk="0" hangingPunct="1">
      <a:defRPr sz="1600" kern="1200">
        <a:solidFill>
          <a:schemeClr val="tx1"/>
        </a:solidFill>
        <a:latin typeface="+mn-lt"/>
        <a:ea typeface="+mn-ea"/>
        <a:cs typeface="+mn-cs"/>
      </a:defRPr>
    </a:lvl2pPr>
    <a:lvl3pPr marL="1174842" algn="l" defTabSz="1174842" rtl="0" eaLnBrk="1" latinLnBrk="0" hangingPunct="1">
      <a:defRPr sz="1600" kern="1200">
        <a:solidFill>
          <a:schemeClr val="tx1"/>
        </a:solidFill>
        <a:latin typeface="+mn-lt"/>
        <a:ea typeface="+mn-ea"/>
        <a:cs typeface="+mn-cs"/>
      </a:defRPr>
    </a:lvl3pPr>
    <a:lvl4pPr marL="1762261" algn="l" defTabSz="1174842" rtl="0" eaLnBrk="1" latinLnBrk="0" hangingPunct="1">
      <a:defRPr sz="1600" kern="1200">
        <a:solidFill>
          <a:schemeClr val="tx1"/>
        </a:solidFill>
        <a:latin typeface="+mn-lt"/>
        <a:ea typeface="+mn-ea"/>
        <a:cs typeface="+mn-cs"/>
      </a:defRPr>
    </a:lvl4pPr>
    <a:lvl5pPr marL="2349682" algn="l" defTabSz="1174842" rtl="0" eaLnBrk="1" latinLnBrk="0" hangingPunct="1">
      <a:defRPr sz="1600" kern="1200">
        <a:solidFill>
          <a:schemeClr val="tx1"/>
        </a:solidFill>
        <a:latin typeface="+mn-lt"/>
        <a:ea typeface="+mn-ea"/>
        <a:cs typeface="+mn-cs"/>
      </a:defRPr>
    </a:lvl5pPr>
    <a:lvl6pPr marL="2937103" algn="l" defTabSz="1174842" rtl="0" eaLnBrk="1" latinLnBrk="0" hangingPunct="1">
      <a:defRPr sz="1600" kern="1200">
        <a:solidFill>
          <a:schemeClr val="tx1"/>
        </a:solidFill>
        <a:latin typeface="+mn-lt"/>
        <a:ea typeface="+mn-ea"/>
        <a:cs typeface="+mn-cs"/>
      </a:defRPr>
    </a:lvl6pPr>
    <a:lvl7pPr marL="3524524" algn="l" defTabSz="1174842" rtl="0" eaLnBrk="1" latinLnBrk="0" hangingPunct="1">
      <a:defRPr sz="1600" kern="1200">
        <a:solidFill>
          <a:schemeClr val="tx1"/>
        </a:solidFill>
        <a:latin typeface="+mn-lt"/>
        <a:ea typeface="+mn-ea"/>
        <a:cs typeface="+mn-cs"/>
      </a:defRPr>
    </a:lvl7pPr>
    <a:lvl8pPr marL="4111945" algn="l" defTabSz="1174842" rtl="0" eaLnBrk="1" latinLnBrk="0" hangingPunct="1">
      <a:defRPr sz="1600" kern="1200">
        <a:solidFill>
          <a:schemeClr val="tx1"/>
        </a:solidFill>
        <a:latin typeface="+mn-lt"/>
        <a:ea typeface="+mn-ea"/>
        <a:cs typeface="+mn-cs"/>
      </a:defRPr>
    </a:lvl8pPr>
    <a:lvl9pPr marL="4699364" algn="l" defTabSz="1174842"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1988" y="685800"/>
            <a:ext cx="5534025"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399ABCE-5995-4C0B-85B0-A94E0DEF7190}" type="slidenum">
              <a:rPr lang="en-US" smtClean="0"/>
              <a:pPr/>
              <a:t>1</a:t>
            </a:fld>
            <a:endParaRPr lang="en-US" dirty="0"/>
          </a:p>
        </p:txBody>
      </p:sp>
    </p:spTree>
    <p:extLst>
      <p:ext uri="{BB962C8B-B14F-4D97-AF65-F5344CB8AC3E}">
        <p14:creationId xmlns:p14="http://schemas.microsoft.com/office/powerpoint/2010/main" val="34831514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2" y="7334863"/>
            <a:ext cx="13249275" cy="874102"/>
          </a:xfrm>
          <a:prstGeom prst="rect">
            <a:avLst/>
          </a:prstGeom>
          <a:noFill/>
          <a:ln w="9525">
            <a:noFill/>
            <a:miter lim="800000"/>
            <a:headEnd/>
            <a:tailEnd/>
          </a:ln>
        </p:spPr>
      </p:pic>
      <p:sp>
        <p:nvSpPr>
          <p:cNvPr id="3" name="Rectangle 3"/>
          <p:cNvSpPr>
            <a:spLocks noChangeArrowheads="1"/>
          </p:cNvSpPr>
          <p:nvPr/>
        </p:nvSpPr>
        <p:spPr bwMode="auto">
          <a:xfrm>
            <a:off x="2" y="184324"/>
            <a:ext cx="13249275" cy="1846001"/>
          </a:xfrm>
          <a:prstGeom prst="rect">
            <a:avLst/>
          </a:prstGeom>
          <a:noFill/>
          <a:ln w="9525">
            <a:noFill/>
            <a:miter lim="800000"/>
            <a:headEnd/>
            <a:tailEnd/>
          </a:ln>
        </p:spPr>
        <p:txBody>
          <a:bodyPr lIns="117484" tIns="58742" rIns="117484" bIns="58742">
            <a:spAutoFit/>
          </a:bodyPr>
          <a:lstStyle/>
          <a:p>
            <a:pPr algn="ctr" eaLnBrk="1" hangingPunct="1"/>
            <a:r>
              <a:rPr lang="en-US" sz="11300" dirty="0"/>
              <a:t>SUBJECT NAME</a:t>
            </a:r>
            <a:endParaRPr lang="en-IN" sz="11300" dirty="0"/>
          </a:p>
        </p:txBody>
      </p:sp>
      <p:sp>
        <p:nvSpPr>
          <p:cNvPr id="4" name="Title 1">
            <a:extLst>
              <a:ext uri="{FF2B5EF4-FFF2-40B4-BE49-F238E27FC236}">
                <a16:creationId xmlns:a16="http://schemas.microsoft.com/office/drawing/2014/main" id="{1C5A3306-8879-4AF8-9AD2-3119B695EB3A}"/>
              </a:ext>
            </a:extLst>
          </p:cNvPr>
          <p:cNvSpPr txBox="1">
            <a:spLocks/>
          </p:cNvSpPr>
          <p:nvPr/>
        </p:nvSpPr>
        <p:spPr>
          <a:xfrm>
            <a:off x="933316" y="1915426"/>
            <a:ext cx="11141122" cy="777192"/>
          </a:xfrm>
          <a:prstGeom prst="rect">
            <a:avLst/>
          </a:prstGeom>
        </p:spPr>
        <p:txBody>
          <a:bodyPr lIns="117484" tIns="58742" rIns="117484" bIns="58742"/>
          <a:lstStyle>
            <a:lvl1pPr algn="ctr" defTabSz="853410" rtl="0" eaLnBrk="1" latinLnBrk="0" hangingPunct="1">
              <a:lnSpc>
                <a:spcPct val="90000"/>
              </a:lnSpc>
              <a:spcBef>
                <a:spcPct val="0"/>
              </a:spcBef>
              <a:buNone/>
              <a:defRPr sz="4107" kern="1200">
                <a:solidFill>
                  <a:schemeClr val="tx1"/>
                </a:solidFill>
                <a:latin typeface="+mj-lt"/>
                <a:ea typeface="+mj-ea"/>
                <a:cs typeface="+mj-cs"/>
              </a:defRPr>
            </a:lvl1pPr>
          </a:lstStyle>
          <a:p>
            <a:pPr fontAlgn="auto">
              <a:spcAft>
                <a:spcPts val="0"/>
              </a:spcAft>
              <a:defRPr/>
            </a:pPr>
            <a:r>
              <a:rPr lang="en-US" b="1" dirty="0"/>
              <a:t>Topic</a:t>
            </a:r>
            <a:endParaRPr lang="en-IN" b="1" dirty="0"/>
          </a:p>
        </p:txBody>
      </p:sp>
      <p:sp>
        <p:nvSpPr>
          <p:cNvPr id="5" name="Title 1">
            <a:extLst>
              <a:ext uri="{FF2B5EF4-FFF2-40B4-BE49-F238E27FC236}">
                <a16:creationId xmlns:a16="http://schemas.microsoft.com/office/drawing/2014/main" id="{8F60D2A9-1FE2-47C3-AC73-F93457D8AFC1}"/>
              </a:ext>
            </a:extLst>
          </p:cNvPr>
          <p:cNvSpPr txBox="1">
            <a:spLocks/>
          </p:cNvSpPr>
          <p:nvPr/>
        </p:nvSpPr>
        <p:spPr>
          <a:xfrm>
            <a:off x="888463" y="2688818"/>
            <a:ext cx="11141122" cy="777191"/>
          </a:xfrm>
          <a:prstGeom prst="rect">
            <a:avLst/>
          </a:prstGeom>
        </p:spPr>
        <p:txBody>
          <a:bodyPr lIns="117484" tIns="58742" rIns="117484" bIns="58742"/>
          <a:lstStyle>
            <a:lvl1pPr algn="ctr" defTabSz="853410" rtl="0" eaLnBrk="1" latinLnBrk="0" hangingPunct="1">
              <a:lnSpc>
                <a:spcPct val="90000"/>
              </a:lnSpc>
              <a:spcBef>
                <a:spcPct val="0"/>
              </a:spcBef>
              <a:buNone/>
              <a:defRPr sz="4107" kern="1200">
                <a:solidFill>
                  <a:schemeClr val="tx1"/>
                </a:solidFill>
                <a:latin typeface="+mj-lt"/>
                <a:ea typeface="+mj-ea"/>
                <a:cs typeface="+mj-cs"/>
              </a:defRPr>
            </a:lvl1pPr>
          </a:lstStyle>
          <a:p>
            <a:pPr fontAlgn="auto">
              <a:spcAft>
                <a:spcPts val="0"/>
              </a:spcAft>
              <a:defRPr/>
            </a:pPr>
            <a:r>
              <a:rPr lang="en-US" b="1" dirty="0"/>
              <a:t>(Unit No)</a:t>
            </a:r>
          </a:p>
          <a:p>
            <a:pPr fontAlgn="auto">
              <a:spcAft>
                <a:spcPts val="0"/>
              </a:spcAft>
              <a:defRPr/>
            </a:pPr>
            <a:r>
              <a:rPr lang="en-US" b="1" dirty="0"/>
              <a:t>(Related CO’s, PO’s &amp; PSO’s)</a:t>
            </a:r>
            <a:endParaRPr lang="en-IN" b="1" dirty="0"/>
          </a:p>
        </p:txBody>
      </p:sp>
      <p:sp>
        <p:nvSpPr>
          <p:cNvPr id="6" name="Title 1">
            <a:extLst>
              <a:ext uri="{FF2B5EF4-FFF2-40B4-BE49-F238E27FC236}">
                <a16:creationId xmlns:a16="http://schemas.microsoft.com/office/drawing/2014/main" id="{2CBE47D8-BA5C-46EC-8DA1-D656A6F9FBB8}"/>
              </a:ext>
            </a:extLst>
          </p:cNvPr>
          <p:cNvSpPr txBox="1">
            <a:spLocks/>
          </p:cNvSpPr>
          <p:nvPr/>
        </p:nvSpPr>
        <p:spPr>
          <a:xfrm>
            <a:off x="888463" y="4503530"/>
            <a:ext cx="11141122" cy="777192"/>
          </a:xfrm>
          <a:prstGeom prst="rect">
            <a:avLst/>
          </a:prstGeom>
        </p:spPr>
        <p:txBody>
          <a:bodyPr lIns="117484" tIns="58742" rIns="117484" bIns="58742"/>
          <a:lstStyle>
            <a:lvl1pPr algn="ctr" defTabSz="853410" rtl="0" eaLnBrk="1" latinLnBrk="0" hangingPunct="1">
              <a:lnSpc>
                <a:spcPct val="90000"/>
              </a:lnSpc>
              <a:spcBef>
                <a:spcPct val="0"/>
              </a:spcBef>
              <a:buNone/>
              <a:defRPr sz="4107" kern="1200">
                <a:solidFill>
                  <a:schemeClr val="tx1"/>
                </a:solidFill>
                <a:latin typeface="+mj-lt"/>
                <a:ea typeface="+mj-ea"/>
                <a:cs typeface="+mj-cs"/>
              </a:defRPr>
            </a:lvl1pPr>
          </a:lstStyle>
          <a:p>
            <a:pPr fontAlgn="auto">
              <a:spcAft>
                <a:spcPts val="0"/>
              </a:spcAft>
              <a:defRPr/>
            </a:pPr>
            <a:r>
              <a:rPr lang="en-US" b="1" dirty="0"/>
              <a:t>Faculty Name</a:t>
            </a:r>
          </a:p>
          <a:p>
            <a:pPr fontAlgn="auto">
              <a:spcAft>
                <a:spcPts val="0"/>
              </a:spcAft>
              <a:defRPr/>
            </a:pPr>
            <a:r>
              <a:rPr lang="en-US" sz="4600" dirty="0"/>
              <a:t>Designation</a:t>
            </a:r>
          </a:p>
          <a:p>
            <a:pPr fontAlgn="auto">
              <a:spcAft>
                <a:spcPts val="0"/>
              </a:spcAft>
              <a:defRPr/>
            </a:pPr>
            <a:r>
              <a:rPr lang="en-US" sz="4600" dirty="0"/>
              <a:t>Department Name</a:t>
            </a:r>
            <a:endParaRPr lang="en-IN" sz="460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62465" y="7608494"/>
            <a:ext cx="3091498" cy="437052"/>
          </a:xfrm>
          <a:prstGeom prst="rect">
            <a:avLst/>
          </a:prstGeom>
        </p:spPr>
        <p:txBody>
          <a:bodyPr lIns="117484" tIns="58742" rIns="117484" bIns="58742"/>
          <a:lstStyle/>
          <a:p>
            <a:r>
              <a:rPr lang="en-US"/>
              <a:t>02/09/2025</a:t>
            </a:r>
            <a:endParaRPr lang="en-US" dirty="0"/>
          </a:p>
        </p:txBody>
      </p:sp>
      <p:sp>
        <p:nvSpPr>
          <p:cNvPr id="3" name="Footer Placeholder 2"/>
          <p:cNvSpPr>
            <a:spLocks noGrp="1"/>
          </p:cNvSpPr>
          <p:nvPr>
            <p:ph type="ftr" sz="quarter" idx="11"/>
          </p:nvPr>
        </p:nvSpPr>
        <p:spPr>
          <a:xfrm>
            <a:off x="4526838" y="7608494"/>
            <a:ext cx="4195603" cy="437052"/>
          </a:xfrm>
          <a:prstGeom prst="rect">
            <a:avLst/>
          </a:prstGeom>
        </p:spPr>
        <p:txBody>
          <a:bodyPr lIns="117484" tIns="58742" rIns="117484" bIns="58742"/>
          <a:lstStyle/>
          <a:p>
            <a:endParaRPr lang="en-US" dirty="0"/>
          </a:p>
        </p:txBody>
      </p:sp>
      <p:sp>
        <p:nvSpPr>
          <p:cNvPr id="4" name="Slide Number Placeholder 3"/>
          <p:cNvSpPr>
            <a:spLocks noGrp="1"/>
          </p:cNvSpPr>
          <p:nvPr>
            <p:ph type="sldNum" sz="quarter" idx="12"/>
          </p:nvPr>
        </p:nvSpPr>
        <p:spPr>
          <a:xfrm>
            <a:off x="9495315" y="7608494"/>
            <a:ext cx="3091498" cy="437052"/>
          </a:xfrm>
          <a:prstGeom prst="rect">
            <a:avLst/>
          </a:prstGeom>
        </p:spPr>
        <p:txBody>
          <a:bodyPr lIns="117484" tIns="58742" rIns="117484" bIns="58742"/>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6"/>
          <p:cNvPicPr>
            <a:picLocks noChangeAspect="1" noChangeArrowheads="1"/>
          </p:cNvPicPr>
          <p:nvPr/>
        </p:nvPicPr>
        <p:blipFill>
          <a:blip r:embed="rId5"/>
          <a:srcRect/>
          <a:stretch>
            <a:fillRect/>
          </a:stretch>
        </p:blipFill>
        <p:spPr bwMode="auto">
          <a:xfrm>
            <a:off x="2" y="7334863"/>
            <a:ext cx="13249275" cy="87410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p:txStyles>
    <p:titleStyle>
      <a:lvl1pPr algn="l" rtl="0" eaLnBrk="1" fontAlgn="base" hangingPunct="1">
        <a:lnSpc>
          <a:spcPct val="90000"/>
        </a:lnSpc>
        <a:spcBef>
          <a:spcPct val="0"/>
        </a:spcBef>
        <a:spcAft>
          <a:spcPct val="0"/>
        </a:spcAft>
        <a:defRPr sz="5700" kern="1200">
          <a:solidFill>
            <a:schemeClr val="tx1"/>
          </a:solidFill>
          <a:latin typeface="+mj-lt"/>
          <a:ea typeface="+mj-ea"/>
          <a:cs typeface="+mj-cs"/>
        </a:defRPr>
      </a:lvl1pPr>
      <a:lvl2pPr algn="l" rtl="0" eaLnBrk="1" fontAlgn="base" hangingPunct="1">
        <a:lnSpc>
          <a:spcPct val="90000"/>
        </a:lnSpc>
        <a:spcBef>
          <a:spcPct val="0"/>
        </a:spcBef>
        <a:spcAft>
          <a:spcPct val="0"/>
        </a:spcAft>
        <a:defRPr sz="5700">
          <a:solidFill>
            <a:schemeClr val="tx1"/>
          </a:solidFill>
          <a:latin typeface="Calibri Light" pitchFamily="34" charset="0"/>
        </a:defRPr>
      </a:lvl2pPr>
      <a:lvl3pPr algn="l" rtl="0" eaLnBrk="1" fontAlgn="base" hangingPunct="1">
        <a:lnSpc>
          <a:spcPct val="90000"/>
        </a:lnSpc>
        <a:spcBef>
          <a:spcPct val="0"/>
        </a:spcBef>
        <a:spcAft>
          <a:spcPct val="0"/>
        </a:spcAft>
        <a:defRPr sz="5700">
          <a:solidFill>
            <a:schemeClr val="tx1"/>
          </a:solidFill>
          <a:latin typeface="Calibri Light" pitchFamily="34" charset="0"/>
        </a:defRPr>
      </a:lvl3pPr>
      <a:lvl4pPr algn="l" rtl="0" eaLnBrk="1" fontAlgn="base" hangingPunct="1">
        <a:lnSpc>
          <a:spcPct val="90000"/>
        </a:lnSpc>
        <a:spcBef>
          <a:spcPct val="0"/>
        </a:spcBef>
        <a:spcAft>
          <a:spcPct val="0"/>
        </a:spcAft>
        <a:defRPr sz="5700">
          <a:solidFill>
            <a:schemeClr val="tx1"/>
          </a:solidFill>
          <a:latin typeface="Calibri Light" pitchFamily="34" charset="0"/>
        </a:defRPr>
      </a:lvl4pPr>
      <a:lvl5pPr algn="l" rtl="0" eaLnBrk="1" fontAlgn="base" hangingPunct="1">
        <a:lnSpc>
          <a:spcPct val="90000"/>
        </a:lnSpc>
        <a:spcBef>
          <a:spcPct val="0"/>
        </a:spcBef>
        <a:spcAft>
          <a:spcPct val="0"/>
        </a:spcAft>
        <a:defRPr sz="5700">
          <a:solidFill>
            <a:schemeClr val="tx1"/>
          </a:solidFill>
          <a:latin typeface="Calibri Light" pitchFamily="34" charset="0"/>
        </a:defRPr>
      </a:lvl5pPr>
      <a:lvl6pPr marL="587421" algn="l" rtl="0" eaLnBrk="1" fontAlgn="base" hangingPunct="1">
        <a:lnSpc>
          <a:spcPct val="90000"/>
        </a:lnSpc>
        <a:spcBef>
          <a:spcPct val="0"/>
        </a:spcBef>
        <a:spcAft>
          <a:spcPct val="0"/>
        </a:spcAft>
        <a:defRPr sz="5700">
          <a:solidFill>
            <a:schemeClr val="tx1"/>
          </a:solidFill>
          <a:latin typeface="Calibri Light" pitchFamily="34" charset="0"/>
        </a:defRPr>
      </a:lvl6pPr>
      <a:lvl7pPr marL="1174842" algn="l" rtl="0" eaLnBrk="1" fontAlgn="base" hangingPunct="1">
        <a:lnSpc>
          <a:spcPct val="90000"/>
        </a:lnSpc>
        <a:spcBef>
          <a:spcPct val="0"/>
        </a:spcBef>
        <a:spcAft>
          <a:spcPct val="0"/>
        </a:spcAft>
        <a:defRPr sz="5700">
          <a:solidFill>
            <a:schemeClr val="tx1"/>
          </a:solidFill>
          <a:latin typeface="Calibri Light" pitchFamily="34" charset="0"/>
        </a:defRPr>
      </a:lvl7pPr>
      <a:lvl8pPr marL="1762261" algn="l" rtl="0" eaLnBrk="1" fontAlgn="base" hangingPunct="1">
        <a:lnSpc>
          <a:spcPct val="90000"/>
        </a:lnSpc>
        <a:spcBef>
          <a:spcPct val="0"/>
        </a:spcBef>
        <a:spcAft>
          <a:spcPct val="0"/>
        </a:spcAft>
        <a:defRPr sz="5700">
          <a:solidFill>
            <a:schemeClr val="tx1"/>
          </a:solidFill>
          <a:latin typeface="Calibri Light" pitchFamily="34" charset="0"/>
        </a:defRPr>
      </a:lvl8pPr>
      <a:lvl9pPr marL="2349682" algn="l" rtl="0" eaLnBrk="1" fontAlgn="base" hangingPunct="1">
        <a:lnSpc>
          <a:spcPct val="90000"/>
        </a:lnSpc>
        <a:spcBef>
          <a:spcPct val="0"/>
        </a:spcBef>
        <a:spcAft>
          <a:spcPct val="0"/>
        </a:spcAft>
        <a:defRPr sz="5700">
          <a:solidFill>
            <a:schemeClr val="tx1"/>
          </a:solidFill>
          <a:latin typeface="Calibri Light" pitchFamily="34" charset="0"/>
        </a:defRPr>
      </a:lvl9pPr>
    </p:titleStyle>
    <p:bodyStyle>
      <a:lvl1pPr marL="293710" indent="-293710" algn="l" rtl="0" eaLnBrk="1" fontAlgn="base" hangingPunct="1">
        <a:lnSpc>
          <a:spcPct val="90000"/>
        </a:lnSpc>
        <a:spcBef>
          <a:spcPts val="1285"/>
        </a:spcBef>
        <a:spcAft>
          <a:spcPct val="0"/>
        </a:spcAft>
        <a:buFont typeface="Arial" pitchFamily="34" charset="0"/>
        <a:buChar char="•"/>
        <a:defRPr sz="3600" kern="1200">
          <a:solidFill>
            <a:schemeClr val="tx1"/>
          </a:solidFill>
          <a:latin typeface="+mn-lt"/>
          <a:ea typeface="+mn-ea"/>
          <a:cs typeface="+mn-cs"/>
        </a:defRPr>
      </a:lvl1pPr>
      <a:lvl2pPr marL="881131" indent="-293710" algn="l" rtl="0" eaLnBrk="1" fontAlgn="base" hangingPunct="1">
        <a:lnSpc>
          <a:spcPct val="90000"/>
        </a:lnSpc>
        <a:spcBef>
          <a:spcPts val="642"/>
        </a:spcBef>
        <a:spcAft>
          <a:spcPct val="0"/>
        </a:spcAft>
        <a:buFont typeface="Arial" pitchFamily="34" charset="0"/>
        <a:buChar char="•"/>
        <a:defRPr sz="3100" kern="1200">
          <a:solidFill>
            <a:schemeClr val="tx1"/>
          </a:solidFill>
          <a:latin typeface="+mn-lt"/>
          <a:ea typeface="+mn-ea"/>
          <a:cs typeface="+mn-cs"/>
        </a:defRPr>
      </a:lvl2pPr>
      <a:lvl3pPr marL="1468552" indent="-293710" algn="l" rtl="0" eaLnBrk="1" fontAlgn="base" hangingPunct="1">
        <a:lnSpc>
          <a:spcPct val="90000"/>
        </a:lnSpc>
        <a:spcBef>
          <a:spcPts val="642"/>
        </a:spcBef>
        <a:spcAft>
          <a:spcPct val="0"/>
        </a:spcAft>
        <a:buFont typeface="Arial" pitchFamily="34" charset="0"/>
        <a:buChar char="•"/>
        <a:defRPr sz="2600" kern="1200">
          <a:solidFill>
            <a:schemeClr val="tx1"/>
          </a:solidFill>
          <a:latin typeface="+mn-lt"/>
          <a:ea typeface="+mn-ea"/>
          <a:cs typeface="+mn-cs"/>
        </a:defRPr>
      </a:lvl3pPr>
      <a:lvl4pPr marL="2055972" indent="-293710" algn="l" rtl="0" eaLnBrk="1" fontAlgn="base" hangingPunct="1">
        <a:lnSpc>
          <a:spcPct val="90000"/>
        </a:lnSpc>
        <a:spcBef>
          <a:spcPts val="642"/>
        </a:spcBef>
        <a:spcAft>
          <a:spcPct val="0"/>
        </a:spcAft>
        <a:buFont typeface="Arial" pitchFamily="34" charset="0"/>
        <a:buChar char="•"/>
        <a:defRPr kern="1200">
          <a:solidFill>
            <a:schemeClr val="tx1"/>
          </a:solidFill>
          <a:latin typeface="+mn-lt"/>
          <a:ea typeface="+mn-ea"/>
          <a:cs typeface="+mn-cs"/>
        </a:defRPr>
      </a:lvl4pPr>
      <a:lvl5pPr marL="2643393" indent="-293710" algn="l" rtl="0" eaLnBrk="1" fontAlgn="base" hangingPunct="1">
        <a:lnSpc>
          <a:spcPct val="90000"/>
        </a:lnSpc>
        <a:spcBef>
          <a:spcPts val="642"/>
        </a:spcBef>
        <a:spcAft>
          <a:spcPct val="0"/>
        </a:spcAft>
        <a:buFont typeface="Arial" pitchFamily="34" charset="0"/>
        <a:buChar char="•"/>
        <a:defRPr kern="1200">
          <a:solidFill>
            <a:schemeClr val="tx1"/>
          </a:solidFill>
          <a:latin typeface="+mn-lt"/>
          <a:ea typeface="+mn-ea"/>
          <a:cs typeface="+mn-cs"/>
        </a:defRPr>
      </a:lvl5pPr>
      <a:lvl6pPr marL="3230813" indent="-293710" algn="l" defTabSz="1174842" rtl="0" eaLnBrk="1" latinLnBrk="0" hangingPunct="1">
        <a:lnSpc>
          <a:spcPct val="90000"/>
        </a:lnSpc>
        <a:spcBef>
          <a:spcPts val="642"/>
        </a:spcBef>
        <a:buFont typeface="Arial" panose="020B0604020202020204" pitchFamily="34" charset="0"/>
        <a:buChar char="•"/>
        <a:defRPr sz="2300" kern="1200">
          <a:solidFill>
            <a:schemeClr val="tx1"/>
          </a:solidFill>
          <a:latin typeface="+mn-lt"/>
          <a:ea typeface="+mn-ea"/>
          <a:cs typeface="+mn-cs"/>
        </a:defRPr>
      </a:lvl6pPr>
      <a:lvl7pPr marL="3818234" indent="-293710" algn="l" defTabSz="1174842" rtl="0" eaLnBrk="1" latinLnBrk="0" hangingPunct="1">
        <a:lnSpc>
          <a:spcPct val="90000"/>
        </a:lnSpc>
        <a:spcBef>
          <a:spcPts val="642"/>
        </a:spcBef>
        <a:buFont typeface="Arial" panose="020B0604020202020204" pitchFamily="34" charset="0"/>
        <a:buChar char="•"/>
        <a:defRPr sz="2300" kern="1200">
          <a:solidFill>
            <a:schemeClr val="tx1"/>
          </a:solidFill>
          <a:latin typeface="+mn-lt"/>
          <a:ea typeface="+mn-ea"/>
          <a:cs typeface="+mn-cs"/>
        </a:defRPr>
      </a:lvl7pPr>
      <a:lvl8pPr marL="4405655" indent="-293710" algn="l" defTabSz="1174842" rtl="0" eaLnBrk="1" latinLnBrk="0" hangingPunct="1">
        <a:lnSpc>
          <a:spcPct val="90000"/>
        </a:lnSpc>
        <a:spcBef>
          <a:spcPts val="642"/>
        </a:spcBef>
        <a:buFont typeface="Arial" panose="020B0604020202020204" pitchFamily="34" charset="0"/>
        <a:buChar char="•"/>
        <a:defRPr sz="2300" kern="1200">
          <a:solidFill>
            <a:schemeClr val="tx1"/>
          </a:solidFill>
          <a:latin typeface="+mn-lt"/>
          <a:ea typeface="+mn-ea"/>
          <a:cs typeface="+mn-cs"/>
        </a:defRPr>
      </a:lvl8pPr>
      <a:lvl9pPr marL="4993075" indent="-293710" algn="l" defTabSz="1174842" rtl="0" eaLnBrk="1" latinLnBrk="0" hangingPunct="1">
        <a:lnSpc>
          <a:spcPct val="90000"/>
        </a:lnSpc>
        <a:spcBef>
          <a:spcPts val="642"/>
        </a:spcBef>
        <a:buFont typeface="Arial" panose="020B0604020202020204" pitchFamily="34" charset="0"/>
        <a:buChar char="•"/>
        <a:defRPr sz="2300" kern="1200">
          <a:solidFill>
            <a:schemeClr val="tx1"/>
          </a:solidFill>
          <a:latin typeface="+mn-lt"/>
          <a:ea typeface="+mn-ea"/>
          <a:cs typeface="+mn-cs"/>
        </a:defRPr>
      </a:lvl9pPr>
    </p:bodyStyle>
    <p:otherStyle>
      <a:defPPr>
        <a:defRPr lang="en-US"/>
      </a:defPPr>
      <a:lvl1pPr marL="0" algn="l" defTabSz="1174842" rtl="0" eaLnBrk="1" latinLnBrk="0" hangingPunct="1">
        <a:defRPr sz="2300" kern="1200">
          <a:solidFill>
            <a:schemeClr val="tx1"/>
          </a:solidFill>
          <a:latin typeface="+mn-lt"/>
          <a:ea typeface="+mn-ea"/>
          <a:cs typeface="+mn-cs"/>
        </a:defRPr>
      </a:lvl1pPr>
      <a:lvl2pPr marL="587421" algn="l" defTabSz="1174842" rtl="0" eaLnBrk="1" latinLnBrk="0" hangingPunct="1">
        <a:defRPr sz="2300" kern="1200">
          <a:solidFill>
            <a:schemeClr val="tx1"/>
          </a:solidFill>
          <a:latin typeface="+mn-lt"/>
          <a:ea typeface="+mn-ea"/>
          <a:cs typeface="+mn-cs"/>
        </a:defRPr>
      </a:lvl2pPr>
      <a:lvl3pPr marL="1174842" algn="l" defTabSz="1174842" rtl="0" eaLnBrk="1" latinLnBrk="0" hangingPunct="1">
        <a:defRPr sz="2300" kern="1200">
          <a:solidFill>
            <a:schemeClr val="tx1"/>
          </a:solidFill>
          <a:latin typeface="+mn-lt"/>
          <a:ea typeface="+mn-ea"/>
          <a:cs typeface="+mn-cs"/>
        </a:defRPr>
      </a:lvl3pPr>
      <a:lvl4pPr marL="1762261" algn="l" defTabSz="1174842" rtl="0" eaLnBrk="1" latinLnBrk="0" hangingPunct="1">
        <a:defRPr sz="2300" kern="1200">
          <a:solidFill>
            <a:schemeClr val="tx1"/>
          </a:solidFill>
          <a:latin typeface="+mn-lt"/>
          <a:ea typeface="+mn-ea"/>
          <a:cs typeface="+mn-cs"/>
        </a:defRPr>
      </a:lvl4pPr>
      <a:lvl5pPr marL="2349682" algn="l" defTabSz="1174842" rtl="0" eaLnBrk="1" latinLnBrk="0" hangingPunct="1">
        <a:defRPr sz="2300" kern="1200">
          <a:solidFill>
            <a:schemeClr val="tx1"/>
          </a:solidFill>
          <a:latin typeface="+mn-lt"/>
          <a:ea typeface="+mn-ea"/>
          <a:cs typeface="+mn-cs"/>
        </a:defRPr>
      </a:lvl5pPr>
      <a:lvl6pPr marL="2937103" algn="l" defTabSz="1174842" rtl="0" eaLnBrk="1" latinLnBrk="0" hangingPunct="1">
        <a:defRPr sz="2300" kern="1200">
          <a:solidFill>
            <a:schemeClr val="tx1"/>
          </a:solidFill>
          <a:latin typeface="+mn-lt"/>
          <a:ea typeface="+mn-ea"/>
          <a:cs typeface="+mn-cs"/>
        </a:defRPr>
      </a:lvl6pPr>
      <a:lvl7pPr marL="3524524" algn="l" defTabSz="1174842" rtl="0" eaLnBrk="1" latinLnBrk="0" hangingPunct="1">
        <a:defRPr sz="2300" kern="1200">
          <a:solidFill>
            <a:schemeClr val="tx1"/>
          </a:solidFill>
          <a:latin typeface="+mn-lt"/>
          <a:ea typeface="+mn-ea"/>
          <a:cs typeface="+mn-cs"/>
        </a:defRPr>
      </a:lvl7pPr>
      <a:lvl8pPr marL="4111945" algn="l" defTabSz="1174842" rtl="0" eaLnBrk="1" latinLnBrk="0" hangingPunct="1">
        <a:defRPr sz="2300" kern="1200">
          <a:solidFill>
            <a:schemeClr val="tx1"/>
          </a:solidFill>
          <a:latin typeface="+mn-lt"/>
          <a:ea typeface="+mn-ea"/>
          <a:cs typeface="+mn-cs"/>
        </a:defRPr>
      </a:lvl8pPr>
      <a:lvl9pPr marL="4699364" algn="l" defTabSz="1174842"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38EFFF-10FA-373A-F048-0A7F1DB08EA3}"/>
              </a:ext>
            </a:extLst>
          </p:cNvPr>
          <p:cNvSpPr txBox="1"/>
          <p:nvPr/>
        </p:nvSpPr>
        <p:spPr>
          <a:xfrm>
            <a:off x="3763266" y="1639221"/>
            <a:ext cx="6628450" cy="1384995"/>
          </a:xfrm>
          <a:prstGeom prst="rect">
            <a:avLst/>
          </a:prstGeom>
          <a:noFill/>
        </p:spPr>
        <p:txBody>
          <a:bodyPr wrap="square" rtlCol="0">
            <a:spAutoFit/>
          </a:bodyPr>
          <a:lstStyle/>
          <a:p>
            <a:pPr algn="just"/>
            <a:r>
              <a:rPr lang="en-IN" sz="2800" dirty="0"/>
              <a:t>Analysis &amp; Design of Vehicle Chassis in EV’s</a:t>
            </a:r>
          </a:p>
          <a:p>
            <a:pPr algn="l"/>
            <a:endParaRPr lang="en-IN" sz="2800" dirty="0"/>
          </a:p>
          <a:p>
            <a:pPr algn="l"/>
            <a:r>
              <a:rPr lang="en-IN" sz="2800" dirty="0"/>
              <a:t> </a:t>
            </a:r>
            <a:endParaRPr lang="en-US" sz="2800" dirty="0"/>
          </a:p>
        </p:txBody>
      </p:sp>
      <p:sp>
        <p:nvSpPr>
          <p:cNvPr id="4" name="TextBox 3">
            <a:extLst>
              <a:ext uri="{FF2B5EF4-FFF2-40B4-BE49-F238E27FC236}">
                <a16:creationId xmlns:a16="http://schemas.microsoft.com/office/drawing/2014/main" id="{F8BF8DD8-9004-BC24-6086-592501FE5D34}"/>
              </a:ext>
            </a:extLst>
          </p:cNvPr>
          <p:cNvSpPr txBox="1"/>
          <p:nvPr/>
        </p:nvSpPr>
        <p:spPr>
          <a:xfrm>
            <a:off x="1214437" y="744792"/>
            <a:ext cx="11246631" cy="707886"/>
          </a:xfrm>
          <a:prstGeom prst="rect">
            <a:avLst/>
          </a:prstGeom>
          <a:noFill/>
        </p:spPr>
        <p:txBody>
          <a:bodyPr wrap="square" rtlCol="0">
            <a:spAutoFit/>
          </a:bodyPr>
          <a:lstStyle/>
          <a:p>
            <a:pPr algn="ctr"/>
            <a:r>
              <a:rPr lang="en-IN" sz="4000" dirty="0"/>
              <a:t>SUMMER INTERNSHIP REPORT</a:t>
            </a:r>
            <a:endParaRPr lang="en-US" sz="4000" dirty="0"/>
          </a:p>
        </p:txBody>
      </p:sp>
      <p:sp>
        <p:nvSpPr>
          <p:cNvPr id="7" name="TextBox 6">
            <a:extLst>
              <a:ext uri="{FF2B5EF4-FFF2-40B4-BE49-F238E27FC236}">
                <a16:creationId xmlns:a16="http://schemas.microsoft.com/office/drawing/2014/main" id="{CD911253-B0FD-F0DB-E72D-9A40C79AF791}"/>
              </a:ext>
            </a:extLst>
          </p:cNvPr>
          <p:cNvSpPr txBox="1"/>
          <p:nvPr/>
        </p:nvSpPr>
        <p:spPr>
          <a:xfrm>
            <a:off x="5707258" y="3187632"/>
            <a:ext cx="1828800" cy="1828800"/>
          </a:xfrm>
          <a:prstGeom prst="rect">
            <a:avLst/>
          </a:prstGeom>
          <a:noFill/>
        </p:spPr>
        <p:txBody>
          <a:bodyPr wrap="square" rtlCol="0">
            <a:spAutoFit/>
          </a:bodyPr>
          <a:lstStyle/>
          <a:p>
            <a:pPr algn="l"/>
            <a:endParaRPr lang="en-US" dirty="0"/>
          </a:p>
        </p:txBody>
      </p:sp>
      <p:sp>
        <p:nvSpPr>
          <p:cNvPr id="8" name="TextBox 7">
            <a:extLst>
              <a:ext uri="{FF2B5EF4-FFF2-40B4-BE49-F238E27FC236}">
                <a16:creationId xmlns:a16="http://schemas.microsoft.com/office/drawing/2014/main" id="{150D2B5F-2F2E-063D-77D5-ACDF0DCC00B0}"/>
              </a:ext>
            </a:extLst>
          </p:cNvPr>
          <p:cNvSpPr txBox="1"/>
          <p:nvPr/>
        </p:nvSpPr>
        <p:spPr>
          <a:xfrm>
            <a:off x="5707258" y="3187632"/>
            <a:ext cx="1828800" cy="1828800"/>
          </a:xfrm>
          <a:prstGeom prst="rect">
            <a:avLst/>
          </a:prstGeom>
          <a:noFill/>
        </p:spPr>
        <p:txBody>
          <a:bodyPr wrap="square" rtlCol="0">
            <a:spAutoFit/>
          </a:bodyPr>
          <a:lstStyle/>
          <a:p>
            <a:pPr algn="l"/>
            <a:endParaRPr lang="en-US" dirty="0"/>
          </a:p>
        </p:txBody>
      </p:sp>
      <p:sp>
        <p:nvSpPr>
          <p:cNvPr id="17" name="TextBox 16">
            <a:extLst>
              <a:ext uri="{FF2B5EF4-FFF2-40B4-BE49-F238E27FC236}">
                <a16:creationId xmlns:a16="http://schemas.microsoft.com/office/drawing/2014/main" id="{406D607E-525E-0E41-1CA6-3416778BC656}"/>
              </a:ext>
            </a:extLst>
          </p:cNvPr>
          <p:cNvSpPr txBox="1"/>
          <p:nvPr/>
        </p:nvSpPr>
        <p:spPr>
          <a:xfrm>
            <a:off x="757237" y="5358294"/>
            <a:ext cx="6621658" cy="1323439"/>
          </a:xfrm>
          <a:prstGeom prst="rect">
            <a:avLst/>
          </a:prstGeom>
          <a:noFill/>
        </p:spPr>
        <p:txBody>
          <a:bodyPr wrap="square">
            <a:spAutoFit/>
          </a:bodyPr>
          <a:lstStyle/>
          <a:p>
            <a:r>
              <a:rPr lang="en-IN" sz="2000" b="1" dirty="0"/>
              <a:t>Submitted by:</a:t>
            </a:r>
          </a:p>
          <a:p>
            <a:r>
              <a:rPr lang="en-IN" sz="2000" b="1" dirty="0"/>
              <a:t>238T5A0202-</a:t>
            </a:r>
            <a:r>
              <a:rPr lang="en-IN" sz="2000" dirty="0"/>
              <a:t>ANNAVARAPU KOTESWARA RAO</a:t>
            </a:r>
          </a:p>
          <a:p>
            <a:r>
              <a:rPr lang="en-IN" sz="2000" b="1" dirty="0"/>
              <a:t>238T5A0203-</a:t>
            </a:r>
            <a:r>
              <a:rPr lang="en-IN" sz="2000" dirty="0"/>
              <a:t>ARIGA PREM KUMAR</a:t>
            </a:r>
          </a:p>
          <a:p>
            <a:r>
              <a:rPr lang="en-IN" sz="2000" b="1" dirty="0"/>
              <a:t>238T5A0211-</a:t>
            </a:r>
            <a:r>
              <a:rPr lang="en-IN" sz="2000" dirty="0"/>
              <a:t>PULAVARTHI SURESH.</a:t>
            </a:r>
            <a:endParaRPr lang="en-IN" sz="2000" b="1" dirty="0"/>
          </a:p>
        </p:txBody>
      </p:sp>
      <p:pic>
        <p:nvPicPr>
          <p:cNvPr id="3" name="Picture 2">
            <a:extLst>
              <a:ext uri="{FF2B5EF4-FFF2-40B4-BE49-F238E27FC236}">
                <a16:creationId xmlns:a16="http://schemas.microsoft.com/office/drawing/2014/main" id="{8CCE7C75-D236-C0CF-BE43-CA178C969A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4437" y="2514383"/>
            <a:ext cx="2630469" cy="2630469"/>
          </a:xfrm>
          <a:prstGeom prst="rect">
            <a:avLst/>
          </a:prstGeom>
        </p:spPr>
      </p:pic>
      <p:sp>
        <p:nvSpPr>
          <p:cNvPr id="6" name="TextBox 5">
            <a:extLst>
              <a:ext uri="{FF2B5EF4-FFF2-40B4-BE49-F238E27FC236}">
                <a16:creationId xmlns:a16="http://schemas.microsoft.com/office/drawing/2014/main" id="{046A601E-7739-5D73-F808-324D38251F05}"/>
              </a:ext>
            </a:extLst>
          </p:cNvPr>
          <p:cNvSpPr txBox="1"/>
          <p:nvPr/>
        </p:nvSpPr>
        <p:spPr>
          <a:xfrm>
            <a:off x="7094499" y="5308268"/>
            <a:ext cx="6621658" cy="1985159"/>
          </a:xfrm>
          <a:prstGeom prst="rect">
            <a:avLst/>
          </a:prstGeom>
          <a:noFill/>
        </p:spPr>
        <p:txBody>
          <a:bodyPr wrap="square">
            <a:spAutoFit/>
          </a:bodyPr>
          <a:lstStyle/>
          <a:p>
            <a:pPr algn="ctr"/>
            <a:r>
              <a:rPr lang="en-IN" b="1" dirty="0"/>
              <a:t>Faculty Mentor:</a:t>
            </a:r>
          </a:p>
          <a:p>
            <a:pPr algn="ctr"/>
            <a:r>
              <a:rPr lang="en-IN" sz="1800" dirty="0"/>
              <a:t>Dr. GUVURULA NAIDU</a:t>
            </a:r>
          </a:p>
          <a:p>
            <a:pPr algn="ctr"/>
            <a:r>
              <a:rPr lang="en-IN" sz="1800" dirty="0"/>
              <a:t>ASSISTANT PROFESSOR &amp; HEAD OF THE DEPEARTMENT</a:t>
            </a:r>
          </a:p>
          <a:p>
            <a:pPr algn="ctr"/>
            <a:r>
              <a:rPr lang="en-IN" sz="1800" dirty="0"/>
              <a:t>ELECTRICAL AND ELECTRONICS ENGINEERING</a:t>
            </a:r>
          </a:p>
          <a:p>
            <a:pPr algn="ctr"/>
            <a:endParaRPr lang="en-IN" b="1" dirty="0"/>
          </a:p>
          <a:p>
            <a:pPr algn="ctr"/>
            <a:r>
              <a:rPr lang="en-IN" dirty="0"/>
              <a:t> </a:t>
            </a:r>
            <a:endParaRPr lang="en-IN" b="1" dirty="0"/>
          </a:p>
        </p:txBody>
      </p:sp>
      <p:sp>
        <p:nvSpPr>
          <p:cNvPr id="5" name="Date Placeholder 4">
            <a:extLst>
              <a:ext uri="{FF2B5EF4-FFF2-40B4-BE49-F238E27FC236}">
                <a16:creationId xmlns:a16="http://schemas.microsoft.com/office/drawing/2014/main" id="{9F58398D-F483-E0AC-0BF1-4003552FB23A}"/>
              </a:ext>
            </a:extLst>
          </p:cNvPr>
          <p:cNvSpPr>
            <a:spLocks noGrp="1"/>
          </p:cNvSpPr>
          <p:nvPr>
            <p:ph type="dt" sz="half" idx="10"/>
          </p:nvPr>
        </p:nvSpPr>
        <p:spPr>
          <a:xfrm>
            <a:off x="149793" y="6781460"/>
            <a:ext cx="3091498" cy="437052"/>
          </a:xfrm>
        </p:spPr>
        <p:txBody>
          <a:bodyPr/>
          <a:lstStyle/>
          <a:p>
            <a:r>
              <a:rPr lang="en-US" sz="1400"/>
              <a:t>02/09/2025</a:t>
            </a:r>
            <a:endParaRPr lang="en-US" sz="1400" dirty="0"/>
          </a:p>
        </p:txBody>
      </p:sp>
      <p:sp>
        <p:nvSpPr>
          <p:cNvPr id="9" name="TextBox 8">
            <a:extLst>
              <a:ext uri="{FF2B5EF4-FFF2-40B4-BE49-F238E27FC236}">
                <a16:creationId xmlns:a16="http://schemas.microsoft.com/office/drawing/2014/main" id="{BBDF07C2-093B-614E-A34C-6ABB696A56EB}"/>
              </a:ext>
            </a:extLst>
          </p:cNvPr>
          <p:cNvSpPr txBox="1"/>
          <p:nvPr/>
        </p:nvSpPr>
        <p:spPr>
          <a:xfrm>
            <a:off x="11730037" y="6781460"/>
            <a:ext cx="1828800" cy="584775"/>
          </a:xfrm>
          <a:prstGeom prst="rect">
            <a:avLst/>
          </a:prstGeom>
          <a:noFill/>
        </p:spPr>
        <p:txBody>
          <a:bodyPr wrap="square" rtlCol="0">
            <a:spAutoFit/>
          </a:bodyPr>
          <a:lstStyle/>
          <a:p>
            <a:r>
              <a:rPr lang="en-IN" sz="1600" dirty="0"/>
              <a:t>(Batch No-1)</a:t>
            </a:r>
            <a:endParaRPr lang="en-IN" sz="1600" b="1" dirty="0"/>
          </a:p>
          <a:p>
            <a:endParaRPr lang="en-IN" sz="1600" dirty="0"/>
          </a:p>
        </p:txBody>
      </p:sp>
      <p:sp>
        <p:nvSpPr>
          <p:cNvPr id="10" name="Slide Number Placeholder 9">
            <a:extLst>
              <a:ext uri="{FF2B5EF4-FFF2-40B4-BE49-F238E27FC236}">
                <a16:creationId xmlns:a16="http://schemas.microsoft.com/office/drawing/2014/main" id="{5CDDF768-F924-6FDC-6E65-E69AFC14E47E}"/>
              </a:ext>
            </a:extLst>
          </p:cNvPr>
          <p:cNvSpPr>
            <a:spLocks noGrp="1"/>
          </p:cNvSpPr>
          <p:nvPr>
            <p:ph type="sldNum" sz="quarter" idx="12"/>
          </p:nvPr>
        </p:nvSpPr>
        <p:spPr>
          <a:xfrm>
            <a:off x="6154776" y="6845149"/>
            <a:ext cx="3091498" cy="437052"/>
          </a:xfrm>
        </p:spPr>
        <p:txBody>
          <a:bodyPr/>
          <a:lstStyle/>
          <a:p>
            <a:fld id="{B6F15528-21DE-4FAA-801E-634DDDAF4B2B}"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B01BF9-BE9E-52EC-E61F-BE213DBE6024}"/>
              </a:ext>
            </a:extLst>
          </p:cNvPr>
          <p:cNvSpPr>
            <a:spLocks noGrp="1"/>
          </p:cNvSpPr>
          <p:nvPr>
            <p:ph type="dt" sz="half" idx="10"/>
          </p:nvPr>
        </p:nvSpPr>
        <p:spPr>
          <a:xfrm>
            <a:off x="376237" y="6715430"/>
            <a:ext cx="2362200" cy="437052"/>
          </a:xfrm>
        </p:spPr>
        <p:txBody>
          <a:bodyPr/>
          <a:lstStyle/>
          <a:p>
            <a:r>
              <a:rPr lang="en-US" sz="1600"/>
              <a:t>02/09/2025</a:t>
            </a:r>
            <a:endParaRPr lang="en-US" sz="1600" dirty="0"/>
          </a:p>
        </p:txBody>
      </p:sp>
      <p:sp>
        <p:nvSpPr>
          <p:cNvPr id="10" name="TextBox 9">
            <a:extLst>
              <a:ext uri="{FF2B5EF4-FFF2-40B4-BE49-F238E27FC236}">
                <a16:creationId xmlns:a16="http://schemas.microsoft.com/office/drawing/2014/main" id="{5378424B-3009-D2AD-2FE3-C3837CF7ED6D}"/>
              </a:ext>
            </a:extLst>
          </p:cNvPr>
          <p:cNvSpPr txBox="1"/>
          <p:nvPr/>
        </p:nvSpPr>
        <p:spPr>
          <a:xfrm>
            <a:off x="833437" y="1056481"/>
            <a:ext cx="11582400" cy="3600986"/>
          </a:xfrm>
          <a:prstGeom prst="rect">
            <a:avLst/>
          </a:prstGeom>
          <a:noFill/>
        </p:spPr>
        <p:txBody>
          <a:bodyPr wrap="square" rtlCol="0">
            <a:spAutoFit/>
          </a:bodyPr>
          <a:lstStyle/>
          <a:p>
            <a:r>
              <a:rPr lang="en-US" sz="3600" dirty="0"/>
              <a:t>ABSTRACT:</a:t>
            </a:r>
          </a:p>
          <a:p>
            <a:pPr algn="just"/>
            <a:r>
              <a:rPr lang="en-US" sz="3200" dirty="0"/>
              <a:t>      Electric vehicles (EVs) are gaining popularity worldwide due to their environmental benefits, reduced operating costs, and improved performance. This paper provides an in-depth analysis of EVs, including their types, battery technologies, charging methods, and research challenges. We will explore the current market situation, future prospects, and the role of EVs in smart cities.</a:t>
            </a:r>
            <a:endParaRPr lang="en-IN" sz="3200" dirty="0"/>
          </a:p>
        </p:txBody>
      </p:sp>
      <p:sp>
        <p:nvSpPr>
          <p:cNvPr id="3" name="Slide Number Placeholder 2">
            <a:extLst>
              <a:ext uri="{FF2B5EF4-FFF2-40B4-BE49-F238E27FC236}">
                <a16:creationId xmlns:a16="http://schemas.microsoft.com/office/drawing/2014/main" id="{12898DDC-4476-F3BD-20A4-CC0FBF4D6EA3}"/>
              </a:ext>
            </a:extLst>
          </p:cNvPr>
          <p:cNvSpPr>
            <a:spLocks noGrp="1"/>
          </p:cNvSpPr>
          <p:nvPr>
            <p:ph type="sldNum" sz="quarter" idx="12"/>
          </p:nvPr>
        </p:nvSpPr>
        <p:spPr>
          <a:xfrm>
            <a:off x="6319837" y="6715430"/>
            <a:ext cx="3091498" cy="437052"/>
          </a:xfrm>
        </p:spPr>
        <p:txBody>
          <a:bodyPr/>
          <a:lstStyle/>
          <a:p>
            <a:fld id="{B6F15528-21DE-4FAA-801E-634DDDAF4B2B}"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AFDF67-01D3-1BE6-F5C1-5C66C2C8DDDB}"/>
              </a:ext>
            </a:extLst>
          </p:cNvPr>
          <p:cNvSpPr txBox="1"/>
          <p:nvPr/>
        </p:nvSpPr>
        <p:spPr>
          <a:xfrm>
            <a:off x="1290637" y="904081"/>
            <a:ext cx="9753600" cy="446276"/>
          </a:xfrm>
          <a:prstGeom prst="rect">
            <a:avLst/>
          </a:prstGeom>
          <a:noFill/>
        </p:spPr>
        <p:txBody>
          <a:bodyPr wrap="square" rtlCol="0">
            <a:spAutoFit/>
          </a:bodyPr>
          <a:lstStyle/>
          <a:p>
            <a:pPr algn="ctr"/>
            <a:endParaRPr lang="en-IN" dirty="0"/>
          </a:p>
        </p:txBody>
      </p:sp>
      <p:sp>
        <p:nvSpPr>
          <p:cNvPr id="4" name="TextBox 3">
            <a:extLst>
              <a:ext uri="{FF2B5EF4-FFF2-40B4-BE49-F238E27FC236}">
                <a16:creationId xmlns:a16="http://schemas.microsoft.com/office/drawing/2014/main" id="{438DC752-CF6D-AB2D-A154-F1FC4167ED8A}"/>
              </a:ext>
            </a:extLst>
          </p:cNvPr>
          <p:cNvSpPr txBox="1"/>
          <p:nvPr/>
        </p:nvSpPr>
        <p:spPr>
          <a:xfrm>
            <a:off x="1747837" y="294481"/>
            <a:ext cx="8610600" cy="1107996"/>
          </a:xfrm>
          <a:prstGeom prst="rect">
            <a:avLst/>
          </a:prstGeom>
          <a:noFill/>
        </p:spPr>
        <p:txBody>
          <a:bodyPr wrap="square" rtlCol="0">
            <a:spAutoFit/>
          </a:bodyPr>
          <a:lstStyle/>
          <a:p>
            <a:pPr algn="ctr"/>
            <a:r>
              <a:rPr lang="en-US" sz="6600" dirty="0"/>
              <a:t>INTRODUCTION TO EV’s</a:t>
            </a:r>
            <a:endParaRPr lang="en-IN" sz="6600" dirty="0"/>
          </a:p>
        </p:txBody>
      </p:sp>
      <p:sp>
        <p:nvSpPr>
          <p:cNvPr id="5" name="TextBox 4">
            <a:extLst>
              <a:ext uri="{FF2B5EF4-FFF2-40B4-BE49-F238E27FC236}">
                <a16:creationId xmlns:a16="http://schemas.microsoft.com/office/drawing/2014/main" id="{3B27F995-7E7D-6497-90D1-3F889CCA8E5A}"/>
              </a:ext>
            </a:extLst>
          </p:cNvPr>
          <p:cNvSpPr txBox="1"/>
          <p:nvPr/>
        </p:nvSpPr>
        <p:spPr>
          <a:xfrm>
            <a:off x="757237" y="1970881"/>
            <a:ext cx="4953000" cy="4373248"/>
          </a:xfrm>
          <a:prstGeom prst="rect">
            <a:avLst/>
          </a:prstGeom>
          <a:noFill/>
        </p:spPr>
        <p:txBody>
          <a:bodyPr wrap="square" rtlCol="0">
            <a:spAutoFit/>
          </a:bodyPr>
          <a:lstStyle/>
          <a:p>
            <a:pPr marL="930321" lvl="1" indent="-342900">
              <a:lnSpc>
                <a:spcPct val="250000"/>
              </a:lnSpc>
              <a:buFont typeface="Wingdings" panose="05000000000000000000" pitchFamily="2" charset="2"/>
              <a:buChar char="Ø"/>
            </a:pPr>
            <a:r>
              <a:rPr lang="en-US" dirty="0"/>
              <a:t>History and Evolution EV’s</a:t>
            </a:r>
          </a:p>
          <a:p>
            <a:pPr marL="930321" lvl="1" indent="-342900">
              <a:lnSpc>
                <a:spcPct val="250000"/>
              </a:lnSpc>
              <a:buFont typeface="Wingdings" panose="05000000000000000000" pitchFamily="2" charset="2"/>
              <a:buChar char="Ø"/>
            </a:pPr>
            <a:r>
              <a:rPr lang="en-US" dirty="0"/>
              <a:t>Classification of EV’s</a:t>
            </a:r>
          </a:p>
          <a:p>
            <a:pPr marL="930321" lvl="1" indent="-342900">
              <a:lnSpc>
                <a:spcPct val="250000"/>
              </a:lnSpc>
              <a:buFont typeface="Wingdings" panose="05000000000000000000" pitchFamily="2" charset="2"/>
              <a:buChar char="Ø"/>
            </a:pPr>
            <a:r>
              <a:rPr lang="en-US" dirty="0"/>
              <a:t>Main Components in EV’s</a:t>
            </a:r>
          </a:p>
          <a:p>
            <a:pPr marL="930321" lvl="1" indent="-342900">
              <a:lnSpc>
                <a:spcPct val="250000"/>
              </a:lnSpc>
              <a:buFont typeface="Wingdings" panose="05000000000000000000" pitchFamily="2" charset="2"/>
              <a:buChar char="Ø"/>
            </a:pPr>
            <a:r>
              <a:rPr lang="en-US" dirty="0"/>
              <a:t>Principle of Operation</a:t>
            </a:r>
          </a:p>
          <a:p>
            <a:pPr marL="930321" lvl="1" indent="-342900">
              <a:lnSpc>
                <a:spcPct val="250000"/>
              </a:lnSpc>
              <a:buFont typeface="Wingdings" panose="05000000000000000000" pitchFamily="2" charset="2"/>
              <a:buChar char="Ø"/>
            </a:pPr>
            <a:r>
              <a:rPr lang="en-US" dirty="0"/>
              <a:t>Merits </a:t>
            </a:r>
            <a:r>
              <a:rPr lang="en-IN" dirty="0"/>
              <a:t>and Demerits</a:t>
            </a:r>
            <a:endParaRPr lang="en-US" dirty="0"/>
          </a:p>
        </p:txBody>
      </p:sp>
      <p:sp>
        <p:nvSpPr>
          <p:cNvPr id="3" name="TextBox 2">
            <a:extLst>
              <a:ext uri="{FF2B5EF4-FFF2-40B4-BE49-F238E27FC236}">
                <a16:creationId xmlns:a16="http://schemas.microsoft.com/office/drawing/2014/main" id="{11FAABCF-BECF-30E6-8D66-D30C4045A7B4}"/>
              </a:ext>
            </a:extLst>
          </p:cNvPr>
          <p:cNvSpPr txBox="1"/>
          <p:nvPr/>
        </p:nvSpPr>
        <p:spPr>
          <a:xfrm>
            <a:off x="6064284" y="6858606"/>
            <a:ext cx="685800" cy="446276"/>
          </a:xfrm>
          <a:prstGeom prst="rect">
            <a:avLst/>
          </a:prstGeom>
          <a:noFill/>
        </p:spPr>
        <p:txBody>
          <a:bodyPr wrap="square" rtlCol="0">
            <a:spAutoFit/>
          </a:bodyPr>
          <a:lstStyle/>
          <a:p>
            <a:r>
              <a:rPr lang="en-US" dirty="0"/>
              <a:t>3</a:t>
            </a:r>
            <a:endParaRPr lang="en-IN" dirty="0"/>
          </a:p>
        </p:txBody>
      </p:sp>
    </p:spTree>
    <p:extLst>
      <p:ext uri="{BB962C8B-B14F-4D97-AF65-F5344CB8AC3E}">
        <p14:creationId xmlns:p14="http://schemas.microsoft.com/office/powerpoint/2010/main" val="2241710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E1193A-CAE2-E176-1BCE-4A8CE9423571}"/>
              </a:ext>
            </a:extLst>
          </p:cNvPr>
          <p:cNvSpPr txBox="1"/>
          <p:nvPr/>
        </p:nvSpPr>
        <p:spPr>
          <a:xfrm>
            <a:off x="649794" y="333951"/>
            <a:ext cx="5562600" cy="646331"/>
          </a:xfrm>
          <a:prstGeom prst="rect">
            <a:avLst/>
          </a:prstGeom>
          <a:noFill/>
        </p:spPr>
        <p:txBody>
          <a:bodyPr wrap="square" rtlCol="0">
            <a:spAutoFit/>
          </a:bodyPr>
          <a:lstStyle/>
          <a:p>
            <a:r>
              <a:rPr lang="en-US" sz="3600" dirty="0"/>
              <a:t>HISTORY OF EV’s:</a:t>
            </a:r>
            <a:endParaRPr lang="en-IN" sz="3600" dirty="0"/>
          </a:p>
        </p:txBody>
      </p:sp>
      <p:pic>
        <p:nvPicPr>
          <p:cNvPr id="8" name="Picture 7">
            <a:extLst>
              <a:ext uri="{FF2B5EF4-FFF2-40B4-BE49-F238E27FC236}">
                <a16:creationId xmlns:a16="http://schemas.microsoft.com/office/drawing/2014/main" id="{16256421-4C45-3202-E080-16016CB124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3037" y="3875881"/>
            <a:ext cx="9982199" cy="3352800"/>
          </a:xfrm>
          <a:prstGeom prst="rect">
            <a:avLst/>
          </a:prstGeom>
        </p:spPr>
      </p:pic>
      <p:sp>
        <p:nvSpPr>
          <p:cNvPr id="3" name="TextBox 2">
            <a:extLst>
              <a:ext uri="{FF2B5EF4-FFF2-40B4-BE49-F238E27FC236}">
                <a16:creationId xmlns:a16="http://schemas.microsoft.com/office/drawing/2014/main" id="{16C61413-6D33-E6F0-4E94-34E1EBE5B7D2}"/>
              </a:ext>
            </a:extLst>
          </p:cNvPr>
          <p:cNvSpPr txBox="1"/>
          <p:nvPr/>
        </p:nvSpPr>
        <p:spPr>
          <a:xfrm>
            <a:off x="833437" y="1361281"/>
            <a:ext cx="12039600" cy="1938992"/>
          </a:xfrm>
          <a:prstGeom prst="rect">
            <a:avLst/>
          </a:prstGeom>
          <a:noFill/>
        </p:spPr>
        <p:txBody>
          <a:bodyPr wrap="square" rtlCol="0">
            <a:spAutoFit/>
          </a:bodyPr>
          <a:lstStyle/>
          <a:p>
            <a:pPr algn="just"/>
            <a:r>
              <a:rPr lang="en-US" sz="2400" dirty="0"/>
              <a:t>      Electric vehicles emerged in the 1830s, with Robert Anderson creating a crude electric carriage. Over the years, innovations and improvements led to the development of more practical EVs. In the late 19th and early 20th centuries, EVs gained popularity, particularly in urban areas. However, the rise of gasoline-powered vehicles and limitations in battery technology led to a decline in EV adoption.</a:t>
            </a:r>
            <a:endParaRPr lang="en-IN" sz="2400" dirty="0"/>
          </a:p>
        </p:txBody>
      </p:sp>
      <p:sp>
        <p:nvSpPr>
          <p:cNvPr id="4" name="TextBox 3">
            <a:extLst>
              <a:ext uri="{FF2B5EF4-FFF2-40B4-BE49-F238E27FC236}">
                <a16:creationId xmlns:a16="http://schemas.microsoft.com/office/drawing/2014/main" id="{4B907181-2687-FD6C-CB37-7BD3A5626B51}"/>
              </a:ext>
            </a:extLst>
          </p:cNvPr>
          <p:cNvSpPr txBox="1"/>
          <p:nvPr/>
        </p:nvSpPr>
        <p:spPr>
          <a:xfrm>
            <a:off x="6342315" y="7005543"/>
            <a:ext cx="564643" cy="446276"/>
          </a:xfrm>
          <a:prstGeom prst="rect">
            <a:avLst/>
          </a:prstGeom>
          <a:noFill/>
        </p:spPr>
        <p:txBody>
          <a:bodyPr wrap="square" rtlCol="0">
            <a:spAutoFit/>
          </a:bodyPr>
          <a:lstStyle/>
          <a:p>
            <a:r>
              <a:rPr lang="en-US" dirty="0"/>
              <a:t>4</a:t>
            </a:r>
            <a:endParaRPr lang="en-IN" dirty="0"/>
          </a:p>
        </p:txBody>
      </p:sp>
    </p:spTree>
    <p:extLst>
      <p:ext uri="{BB962C8B-B14F-4D97-AF65-F5344CB8AC3E}">
        <p14:creationId xmlns:p14="http://schemas.microsoft.com/office/powerpoint/2010/main" val="3328258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244322-8092-6F72-64A0-2986AB27F6AC}"/>
              </a:ext>
            </a:extLst>
          </p:cNvPr>
          <p:cNvSpPr txBox="1"/>
          <p:nvPr/>
        </p:nvSpPr>
        <p:spPr>
          <a:xfrm>
            <a:off x="757237" y="733346"/>
            <a:ext cx="6324600" cy="707886"/>
          </a:xfrm>
          <a:prstGeom prst="rect">
            <a:avLst/>
          </a:prstGeom>
          <a:noFill/>
        </p:spPr>
        <p:txBody>
          <a:bodyPr wrap="square" rtlCol="0">
            <a:spAutoFit/>
          </a:bodyPr>
          <a:lstStyle/>
          <a:p>
            <a:r>
              <a:rPr lang="en-US" sz="4000" b="1" dirty="0"/>
              <a:t>CLASSIFICATIONS:</a:t>
            </a:r>
            <a:endParaRPr lang="en-IN" sz="4000" b="1" dirty="0"/>
          </a:p>
        </p:txBody>
      </p:sp>
      <p:sp>
        <p:nvSpPr>
          <p:cNvPr id="3" name="TextBox 2">
            <a:extLst>
              <a:ext uri="{FF2B5EF4-FFF2-40B4-BE49-F238E27FC236}">
                <a16:creationId xmlns:a16="http://schemas.microsoft.com/office/drawing/2014/main" id="{86C52020-D93E-3D59-C0CF-D83013BF81AB}"/>
              </a:ext>
            </a:extLst>
          </p:cNvPr>
          <p:cNvSpPr txBox="1"/>
          <p:nvPr/>
        </p:nvSpPr>
        <p:spPr>
          <a:xfrm>
            <a:off x="370952" y="2181860"/>
            <a:ext cx="8991600" cy="4401205"/>
          </a:xfrm>
          <a:prstGeom prst="rect">
            <a:avLst/>
          </a:prstGeom>
          <a:noFill/>
        </p:spPr>
        <p:txBody>
          <a:bodyPr wrap="square" rtlCol="0">
            <a:spAutoFit/>
          </a:bodyPr>
          <a:lstStyle/>
          <a:p>
            <a:r>
              <a:rPr lang="en-IN" sz="3600" b="1" dirty="0"/>
              <a:t>1. Battery Electric Vehicles (BEVs) </a:t>
            </a:r>
            <a:r>
              <a:rPr lang="en-IN" sz="2000" b="1" dirty="0"/>
              <a:t>:</a:t>
            </a:r>
            <a:endParaRPr lang="en-US" sz="2000" b="1" dirty="0"/>
          </a:p>
          <a:p>
            <a:pPr marL="342900" indent="-342900">
              <a:buFont typeface="Arial" panose="020B0604020202020204" pitchFamily="34" charset="0"/>
              <a:buChar char="•"/>
            </a:pPr>
            <a:r>
              <a:rPr lang="en-US" sz="2800" dirty="0"/>
              <a:t> BEVs are powered by a battery pack and electric motor.</a:t>
            </a:r>
          </a:p>
          <a:p>
            <a:pPr marL="342900" indent="-342900">
              <a:buFont typeface="Arial" panose="020B0604020202020204" pitchFamily="34" charset="0"/>
              <a:buChar char="•"/>
            </a:pPr>
            <a:r>
              <a:rPr lang="en-US" sz="2800" dirty="0"/>
              <a:t> BEVs produce no emissions, reducing air pollution and greenhouse gas emissions.</a:t>
            </a:r>
          </a:p>
          <a:p>
            <a:pPr marL="342900" indent="-342900">
              <a:buFont typeface="Arial" panose="020B0604020202020204" pitchFamily="34" charset="0"/>
              <a:buChar char="•"/>
            </a:pPr>
            <a:r>
              <a:rPr lang="en-US" sz="2800" dirty="0"/>
              <a:t> BEVs can be recharged from an external power source, such as a wall socket or charging station.</a:t>
            </a:r>
          </a:p>
          <a:p>
            <a:pPr marL="342900" indent="-342900">
              <a:buFont typeface="Arial" panose="020B0604020202020204" pitchFamily="34" charset="0"/>
              <a:buChar char="•"/>
            </a:pPr>
            <a:r>
              <a:rPr lang="en-US" sz="2800" dirty="0"/>
              <a:t>BEVs offer a sustainable and environmentally friendly transportation option, with benefits including lower operating costs and reduced dependence on fossil fuels.</a:t>
            </a:r>
            <a:endParaRPr lang="en-IN" sz="2800" dirty="0"/>
          </a:p>
          <a:p>
            <a:endParaRPr lang="en-US" sz="2000" b="1" dirty="0"/>
          </a:p>
        </p:txBody>
      </p:sp>
      <p:pic>
        <p:nvPicPr>
          <p:cNvPr id="5" name="Picture 4">
            <a:extLst>
              <a:ext uri="{FF2B5EF4-FFF2-40B4-BE49-F238E27FC236}">
                <a16:creationId xmlns:a16="http://schemas.microsoft.com/office/drawing/2014/main" id="{DCCE5AAD-E4D8-FC66-B82D-EFFB670E7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70050" y="1625898"/>
            <a:ext cx="3708273" cy="5428280"/>
          </a:xfrm>
          <a:prstGeom prst="rect">
            <a:avLst/>
          </a:prstGeom>
        </p:spPr>
      </p:pic>
      <p:sp>
        <p:nvSpPr>
          <p:cNvPr id="4" name="TextBox 3">
            <a:extLst>
              <a:ext uri="{FF2B5EF4-FFF2-40B4-BE49-F238E27FC236}">
                <a16:creationId xmlns:a16="http://schemas.microsoft.com/office/drawing/2014/main" id="{DEA9650D-96CB-FECB-2B75-71BC6D309DA2}"/>
              </a:ext>
            </a:extLst>
          </p:cNvPr>
          <p:cNvSpPr txBox="1"/>
          <p:nvPr/>
        </p:nvSpPr>
        <p:spPr>
          <a:xfrm>
            <a:off x="6319837" y="6910427"/>
            <a:ext cx="609600" cy="457200"/>
          </a:xfrm>
          <a:prstGeom prst="rect">
            <a:avLst/>
          </a:prstGeom>
          <a:noFill/>
        </p:spPr>
        <p:txBody>
          <a:bodyPr wrap="square" rtlCol="0">
            <a:spAutoFit/>
          </a:bodyPr>
          <a:lstStyle/>
          <a:p>
            <a:r>
              <a:rPr lang="en-US" dirty="0"/>
              <a:t>5</a:t>
            </a:r>
            <a:endParaRPr lang="en-IN" dirty="0"/>
          </a:p>
        </p:txBody>
      </p:sp>
    </p:spTree>
    <p:extLst>
      <p:ext uri="{BB962C8B-B14F-4D97-AF65-F5344CB8AC3E}">
        <p14:creationId xmlns:p14="http://schemas.microsoft.com/office/powerpoint/2010/main" val="1044445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3895C6-3B88-EA4B-96B8-FB6CFC8E82E7}"/>
              </a:ext>
            </a:extLst>
          </p:cNvPr>
          <p:cNvSpPr txBox="1"/>
          <p:nvPr/>
        </p:nvSpPr>
        <p:spPr>
          <a:xfrm>
            <a:off x="528637" y="4104481"/>
            <a:ext cx="8765251" cy="2308324"/>
          </a:xfrm>
          <a:prstGeom prst="rect">
            <a:avLst/>
          </a:prstGeom>
          <a:noFill/>
        </p:spPr>
        <p:txBody>
          <a:bodyPr wrap="square" rtlCol="0">
            <a:spAutoFit/>
          </a:bodyPr>
          <a:lstStyle/>
          <a:p>
            <a:r>
              <a:rPr lang="en-US" sz="2400" b="1" dirty="0"/>
              <a:t>3.  Plug In Hybrid Electric Vehicle(PHEVs):</a:t>
            </a:r>
          </a:p>
          <a:p>
            <a:pPr marL="457200" indent="-457200">
              <a:buFont typeface="Arial" panose="020B0604020202020204" pitchFamily="34" charset="0"/>
              <a:buChar char="•"/>
            </a:pPr>
            <a:r>
              <a:rPr lang="en-US" sz="2400" dirty="0"/>
              <a:t>PHEVs have both an electric motor and a gasoline engine.</a:t>
            </a:r>
          </a:p>
          <a:p>
            <a:pPr marL="457200" indent="-457200">
              <a:buFont typeface="Arial" panose="020B0604020202020204" pitchFamily="34" charset="0"/>
              <a:buChar char="•"/>
            </a:pPr>
            <a:r>
              <a:rPr lang="en-US" sz="2400" dirty="0"/>
              <a:t> PHEVs can be plugged into an external power source to recharge their battery.</a:t>
            </a:r>
          </a:p>
          <a:p>
            <a:pPr marL="457200" indent="-457200">
              <a:buFont typeface="Arial" panose="020B0604020202020204" pitchFamily="34" charset="0"/>
              <a:buChar char="•"/>
            </a:pPr>
            <a:r>
              <a:rPr lang="en-US" sz="2400" dirty="0"/>
              <a:t> PHEVs can run on electric power alone for a certain distance, then switch to gasoline power for extended range.</a:t>
            </a:r>
            <a:endParaRPr lang="en-IN" sz="2400" dirty="0"/>
          </a:p>
        </p:txBody>
      </p:sp>
      <p:pic>
        <p:nvPicPr>
          <p:cNvPr id="4" name="Picture 3">
            <a:extLst>
              <a:ext uri="{FF2B5EF4-FFF2-40B4-BE49-F238E27FC236}">
                <a16:creationId xmlns:a16="http://schemas.microsoft.com/office/drawing/2014/main" id="{E3C01DC1-D134-8FA8-3044-1550BABEC5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9237" y="3494881"/>
            <a:ext cx="3429000" cy="3875553"/>
          </a:xfrm>
          <a:prstGeom prst="rect">
            <a:avLst/>
          </a:prstGeom>
        </p:spPr>
      </p:pic>
      <p:sp>
        <p:nvSpPr>
          <p:cNvPr id="6" name="TextBox 5">
            <a:extLst>
              <a:ext uri="{FF2B5EF4-FFF2-40B4-BE49-F238E27FC236}">
                <a16:creationId xmlns:a16="http://schemas.microsoft.com/office/drawing/2014/main" id="{9705DC6C-67E6-F8F4-DCE9-778B20001845}"/>
              </a:ext>
            </a:extLst>
          </p:cNvPr>
          <p:cNvSpPr txBox="1"/>
          <p:nvPr/>
        </p:nvSpPr>
        <p:spPr>
          <a:xfrm>
            <a:off x="528637" y="667291"/>
            <a:ext cx="8382000" cy="3046988"/>
          </a:xfrm>
          <a:prstGeom prst="rect">
            <a:avLst/>
          </a:prstGeom>
          <a:noFill/>
        </p:spPr>
        <p:txBody>
          <a:bodyPr wrap="square" rtlCol="0">
            <a:spAutoFit/>
          </a:bodyPr>
          <a:lstStyle/>
          <a:p>
            <a:r>
              <a:rPr lang="en-US" sz="2400" b="1" dirty="0"/>
              <a:t>2. Hybrid Electric Vehicle:</a:t>
            </a:r>
          </a:p>
          <a:p>
            <a:pPr marL="457200" indent="-457200">
              <a:buFont typeface="Arial" panose="020B0604020202020204" pitchFamily="34" charset="0"/>
              <a:buChar char="•"/>
            </a:pPr>
            <a:r>
              <a:rPr lang="en-US" sz="2400" dirty="0"/>
              <a:t>HEVs have both an electric motor and a gasoline engine.</a:t>
            </a:r>
          </a:p>
          <a:p>
            <a:pPr marL="457200" indent="-457200">
              <a:buFont typeface="Arial" panose="020B0604020202020204" pitchFamily="34" charset="0"/>
              <a:buChar char="•"/>
            </a:pPr>
            <a:r>
              <a:rPr lang="en-US" sz="2400" dirty="0"/>
              <a:t> HEVs cannot be plugged into an external power source; instead, they recharge their battery through regenerative braking and engine power.</a:t>
            </a:r>
          </a:p>
          <a:p>
            <a:pPr marL="457200" indent="-457200">
              <a:buFont typeface="Arial" panose="020B0604020202020204" pitchFamily="34" charset="0"/>
              <a:buChar char="•"/>
            </a:pPr>
            <a:r>
              <a:rPr lang="en-US" sz="2400" dirty="0"/>
              <a:t> HEVs optimize fuel efficiency by using electric power to assist the gasoline engine.</a:t>
            </a:r>
          </a:p>
          <a:p>
            <a:pPr marL="457200" indent="-457200">
              <a:buAutoNum type="arabicPeriod"/>
            </a:pPr>
            <a:endParaRPr lang="en-IN" sz="2400" dirty="0"/>
          </a:p>
        </p:txBody>
      </p:sp>
      <p:sp>
        <p:nvSpPr>
          <p:cNvPr id="3" name="TextBox 2">
            <a:extLst>
              <a:ext uri="{FF2B5EF4-FFF2-40B4-BE49-F238E27FC236}">
                <a16:creationId xmlns:a16="http://schemas.microsoft.com/office/drawing/2014/main" id="{4302D8D3-686B-D58F-65FE-F700987B614C}"/>
              </a:ext>
            </a:extLst>
          </p:cNvPr>
          <p:cNvSpPr txBox="1"/>
          <p:nvPr/>
        </p:nvSpPr>
        <p:spPr>
          <a:xfrm>
            <a:off x="6015037" y="6923881"/>
            <a:ext cx="609600" cy="446276"/>
          </a:xfrm>
          <a:prstGeom prst="rect">
            <a:avLst/>
          </a:prstGeom>
          <a:noFill/>
        </p:spPr>
        <p:txBody>
          <a:bodyPr wrap="square" rtlCol="0">
            <a:spAutoFit/>
          </a:bodyPr>
          <a:lstStyle/>
          <a:p>
            <a:r>
              <a:rPr lang="en-US" dirty="0"/>
              <a:t>6</a:t>
            </a:r>
            <a:endParaRPr lang="en-IN" dirty="0"/>
          </a:p>
        </p:txBody>
      </p:sp>
      <p:pic>
        <p:nvPicPr>
          <p:cNvPr id="7" name="Picture 6">
            <a:extLst>
              <a:ext uri="{FF2B5EF4-FFF2-40B4-BE49-F238E27FC236}">
                <a16:creationId xmlns:a16="http://schemas.microsoft.com/office/drawing/2014/main" id="{564E9E43-09B5-FD33-AA99-E63C7A5E69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93888" y="-17019"/>
            <a:ext cx="3198149" cy="3511899"/>
          </a:xfrm>
          <a:prstGeom prst="rect">
            <a:avLst/>
          </a:prstGeom>
        </p:spPr>
      </p:pic>
    </p:spTree>
    <p:extLst>
      <p:ext uri="{BB962C8B-B14F-4D97-AF65-F5344CB8AC3E}">
        <p14:creationId xmlns:p14="http://schemas.microsoft.com/office/powerpoint/2010/main" val="1537634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135611-4836-08C1-1728-040036025AEF}"/>
              </a:ext>
            </a:extLst>
          </p:cNvPr>
          <p:cNvSpPr txBox="1"/>
          <p:nvPr/>
        </p:nvSpPr>
        <p:spPr>
          <a:xfrm>
            <a:off x="376237" y="294481"/>
            <a:ext cx="8534400" cy="3031599"/>
          </a:xfrm>
          <a:prstGeom prst="rect">
            <a:avLst/>
          </a:prstGeom>
          <a:noFill/>
        </p:spPr>
        <p:txBody>
          <a:bodyPr wrap="square" rtlCol="0">
            <a:spAutoFit/>
          </a:bodyPr>
          <a:lstStyle/>
          <a:p>
            <a:r>
              <a:rPr lang="en-US" b="1" dirty="0"/>
              <a:t>4. Fuel Cell Electric Vehicle(FCEVs):</a:t>
            </a:r>
          </a:p>
          <a:p>
            <a:pPr marL="342900" indent="-342900">
              <a:buFont typeface="Arial" panose="020B0604020202020204" pitchFamily="34" charset="0"/>
              <a:buChar char="•"/>
            </a:pPr>
            <a:r>
              <a:rPr lang="en-IN" sz="2400" dirty="0"/>
              <a:t>FCEVs generate electricity from hydrogen, which powers an electric motor.</a:t>
            </a:r>
          </a:p>
          <a:p>
            <a:pPr marL="342900" indent="-342900">
              <a:buFont typeface="Arial" panose="020B0604020202020204" pitchFamily="34" charset="0"/>
              <a:buChar char="•"/>
            </a:pPr>
            <a:r>
              <a:rPr lang="en-IN" sz="2400" dirty="0"/>
              <a:t>FCEVs produce only water vapor and heat as byproducts.</a:t>
            </a:r>
          </a:p>
          <a:p>
            <a:pPr marL="342900" indent="-342900">
              <a:buFont typeface="Arial" panose="020B0604020202020204" pitchFamily="34" charset="0"/>
              <a:buChar char="•"/>
            </a:pPr>
            <a:r>
              <a:rPr lang="en-IN" sz="2400" dirty="0"/>
              <a:t>FCEVs can be </a:t>
            </a:r>
            <a:r>
              <a:rPr lang="en-IN" sz="2400" dirty="0" err="1"/>
              <a:t>refueled</a:t>
            </a:r>
            <a:r>
              <a:rPr lang="en-IN" sz="2400" dirty="0"/>
              <a:t> quickly, similar to gasoline vehicles.</a:t>
            </a:r>
          </a:p>
          <a:p>
            <a:pPr marL="342900" indent="-342900">
              <a:buFont typeface="Arial" panose="020B0604020202020204" pitchFamily="34" charset="0"/>
              <a:buChar char="•"/>
            </a:pPr>
            <a:r>
              <a:rPr lang="en-IN" sz="2400" dirty="0"/>
              <a:t>FCEVs offer a promising alternative to traditional fossil fuel-based transportation, with benefits including reduced greenhouse gas emissions and improved energy efficiency.</a:t>
            </a:r>
          </a:p>
        </p:txBody>
      </p:sp>
      <p:pic>
        <p:nvPicPr>
          <p:cNvPr id="1026" name="Picture 2" descr="Architectural diagram of fuel-cell electric vehicles (FCEVs ...">
            <a:extLst>
              <a:ext uri="{FF2B5EF4-FFF2-40B4-BE49-F238E27FC236}">
                <a16:creationId xmlns:a16="http://schemas.microsoft.com/office/drawing/2014/main" id="{8CF59E73-653D-CD45-A505-3F3B246D45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1881" y="0"/>
            <a:ext cx="3554721" cy="325779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F678D046-B41A-BCCF-609D-61B1925312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9237" y="3624213"/>
            <a:ext cx="4022003" cy="3672036"/>
          </a:xfrm>
          <a:prstGeom prst="rect">
            <a:avLst/>
          </a:prstGeom>
        </p:spPr>
      </p:pic>
      <p:sp>
        <p:nvSpPr>
          <p:cNvPr id="6" name="TextBox 5">
            <a:extLst>
              <a:ext uri="{FF2B5EF4-FFF2-40B4-BE49-F238E27FC236}">
                <a16:creationId xmlns:a16="http://schemas.microsoft.com/office/drawing/2014/main" id="{C1909E36-560F-6ECE-4F7F-46801E993E12}"/>
              </a:ext>
            </a:extLst>
          </p:cNvPr>
          <p:cNvSpPr txBox="1"/>
          <p:nvPr/>
        </p:nvSpPr>
        <p:spPr>
          <a:xfrm>
            <a:off x="10815637" y="73147"/>
            <a:ext cx="1295400" cy="446276"/>
          </a:xfrm>
          <a:prstGeom prst="rect">
            <a:avLst/>
          </a:prstGeom>
          <a:noFill/>
        </p:spPr>
        <p:txBody>
          <a:bodyPr wrap="square" rtlCol="0">
            <a:spAutoFit/>
          </a:bodyPr>
          <a:lstStyle/>
          <a:p>
            <a:r>
              <a:rPr lang="en-US" dirty="0"/>
              <a:t>FCEV</a:t>
            </a:r>
            <a:endParaRPr lang="en-IN" dirty="0"/>
          </a:p>
        </p:txBody>
      </p:sp>
      <p:sp>
        <p:nvSpPr>
          <p:cNvPr id="7" name="TextBox 6">
            <a:extLst>
              <a:ext uri="{FF2B5EF4-FFF2-40B4-BE49-F238E27FC236}">
                <a16:creationId xmlns:a16="http://schemas.microsoft.com/office/drawing/2014/main" id="{86487A31-8402-FE4E-E319-189B1DC6BC30}"/>
              </a:ext>
            </a:extLst>
          </p:cNvPr>
          <p:cNvSpPr txBox="1"/>
          <p:nvPr/>
        </p:nvSpPr>
        <p:spPr>
          <a:xfrm>
            <a:off x="604837" y="3723481"/>
            <a:ext cx="8153400" cy="2923877"/>
          </a:xfrm>
          <a:prstGeom prst="rect">
            <a:avLst/>
          </a:prstGeom>
          <a:noFill/>
        </p:spPr>
        <p:txBody>
          <a:bodyPr wrap="square" rtlCol="0">
            <a:spAutoFit/>
          </a:bodyPr>
          <a:lstStyle/>
          <a:p>
            <a:r>
              <a:rPr lang="en-US" b="1" dirty="0"/>
              <a:t>5. Mild Hybrid Electric Vehicle(MHEVs):</a:t>
            </a:r>
          </a:p>
          <a:p>
            <a:pPr marL="342900" indent="-342900">
              <a:buFont typeface="Arial" panose="020B0604020202020204" pitchFamily="34" charset="0"/>
              <a:buChar char="•"/>
            </a:pPr>
            <a:r>
              <a:rPr lang="en-US" dirty="0"/>
              <a:t> Electric motor provides additional power during acceleration.</a:t>
            </a:r>
          </a:p>
          <a:p>
            <a:pPr marL="342900" indent="-342900">
              <a:buFont typeface="Arial" panose="020B0604020202020204" pitchFamily="34" charset="0"/>
              <a:buChar char="•"/>
            </a:pPr>
            <a:r>
              <a:rPr lang="en-US" dirty="0"/>
              <a:t> Captures kinetic energy and converts it into electrical energy.</a:t>
            </a:r>
          </a:p>
          <a:p>
            <a:pPr marL="342900" indent="-342900">
              <a:buFont typeface="Arial" panose="020B0604020202020204" pitchFamily="34" charset="0"/>
              <a:buChar char="•"/>
            </a:pPr>
            <a:r>
              <a:rPr lang="en-US" dirty="0"/>
              <a:t> Gasoline engine is always required.</a:t>
            </a:r>
          </a:p>
          <a:p>
            <a:pPr marL="342900" indent="-342900">
              <a:buFont typeface="Arial" panose="020B0604020202020204" pitchFamily="34" charset="0"/>
              <a:buChar char="•"/>
            </a:pPr>
            <a:r>
              <a:rPr lang="en-US" dirty="0"/>
              <a:t>MHEVs offer a balance between fuel efficiency and affordability, making them a popular choice for those seeking a more efficient vehicle.</a:t>
            </a:r>
          </a:p>
          <a:p>
            <a:endParaRPr lang="en-IN" b="1" dirty="0"/>
          </a:p>
        </p:txBody>
      </p:sp>
      <p:sp>
        <p:nvSpPr>
          <p:cNvPr id="8" name="TextBox 7">
            <a:extLst>
              <a:ext uri="{FF2B5EF4-FFF2-40B4-BE49-F238E27FC236}">
                <a16:creationId xmlns:a16="http://schemas.microsoft.com/office/drawing/2014/main" id="{58B649B1-2E9F-E914-7A59-5435EEC03C72}"/>
              </a:ext>
            </a:extLst>
          </p:cNvPr>
          <p:cNvSpPr txBox="1"/>
          <p:nvPr/>
        </p:nvSpPr>
        <p:spPr>
          <a:xfrm>
            <a:off x="10510837" y="6771481"/>
            <a:ext cx="1524000" cy="461665"/>
          </a:xfrm>
          <a:prstGeom prst="rect">
            <a:avLst/>
          </a:prstGeom>
          <a:noFill/>
        </p:spPr>
        <p:txBody>
          <a:bodyPr wrap="square" rtlCol="0">
            <a:spAutoFit/>
          </a:bodyPr>
          <a:lstStyle/>
          <a:p>
            <a:r>
              <a:rPr lang="en-US" sz="2400" b="1" dirty="0"/>
              <a:t>MHEV</a:t>
            </a:r>
            <a:endParaRPr lang="en-IN" sz="2400" b="1" dirty="0"/>
          </a:p>
        </p:txBody>
      </p:sp>
      <p:sp>
        <p:nvSpPr>
          <p:cNvPr id="3" name="TextBox 2">
            <a:extLst>
              <a:ext uri="{FF2B5EF4-FFF2-40B4-BE49-F238E27FC236}">
                <a16:creationId xmlns:a16="http://schemas.microsoft.com/office/drawing/2014/main" id="{E9C52F8F-9FFF-7501-BE11-C47D7AAE6A51}"/>
              </a:ext>
            </a:extLst>
          </p:cNvPr>
          <p:cNvSpPr txBox="1"/>
          <p:nvPr/>
        </p:nvSpPr>
        <p:spPr>
          <a:xfrm>
            <a:off x="5938839" y="6870636"/>
            <a:ext cx="838200" cy="446276"/>
          </a:xfrm>
          <a:prstGeom prst="rect">
            <a:avLst/>
          </a:prstGeom>
          <a:noFill/>
        </p:spPr>
        <p:txBody>
          <a:bodyPr wrap="square" rtlCol="0">
            <a:spAutoFit/>
          </a:bodyPr>
          <a:lstStyle/>
          <a:p>
            <a:r>
              <a:rPr lang="en-US" dirty="0"/>
              <a:t>7</a:t>
            </a:r>
            <a:endParaRPr lang="en-IN" dirty="0"/>
          </a:p>
        </p:txBody>
      </p:sp>
    </p:spTree>
    <p:extLst>
      <p:ext uri="{BB962C8B-B14F-4D97-AF65-F5344CB8AC3E}">
        <p14:creationId xmlns:p14="http://schemas.microsoft.com/office/powerpoint/2010/main" val="3304677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6D6A47-6C75-35CB-430A-D960DDBE52E9}"/>
              </a:ext>
            </a:extLst>
          </p:cNvPr>
          <p:cNvSpPr txBox="1"/>
          <p:nvPr/>
        </p:nvSpPr>
        <p:spPr>
          <a:xfrm>
            <a:off x="300037" y="268613"/>
            <a:ext cx="7848600" cy="707886"/>
          </a:xfrm>
          <a:prstGeom prst="rect">
            <a:avLst/>
          </a:prstGeom>
          <a:noFill/>
        </p:spPr>
        <p:txBody>
          <a:bodyPr wrap="square" rtlCol="0">
            <a:spAutoFit/>
          </a:bodyPr>
          <a:lstStyle/>
          <a:p>
            <a:r>
              <a:rPr lang="en-US" sz="4000" dirty="0"/>
              <a:t>MAIN COMPONENTS IN EV’S</a:t>
            </a:r>
            <a:endParaRPr lang="en-IN" sz="4000" dirty="0"/>
          </a:p>
        </p:txBody>
      </p:sp>
      <p:sp>
        <p:nvSpPr>
          <p:cNvPr id="3" name="TextBox 2">
            <a:extLst>
              <a:ext uri="{FF2B5EF4-FFF2-40B4-BE49-F238E27FC236}">
                <a16:creationId xmlns:a16="http://schemas.microsoft.com/office/drawing/2014/main" id="{29816A7A-17D6-30EC-A163-FFBD899D1713}"/>
              </a:ext>
            </a:extLst>
          </p:cNvPr>
          <p:cNvSpPr txBox="1"/>
          <p:nvPr/>
        </p:nvSpPr>
        <p:spPr>
          <a:xfrm>
            <a:off x="578721" y="1002367"/>
            <a:ext cx="7989016" cy="6370975"/>
          </a:xfrm>
          <a:prstGeom prst="rect">
            <a:avLst/>
          </a:prstGeom>
          <a:noFill/>
        </p:spPr>
        <p:txBody>
          <a:bodyPr wrap="square" rtlCol="0">
            <a:spAutoFit/>
          </a:bodyPr>
          <a:lstStyle/>
          <a:p>
            <a:r>
              <a:rPr lang="en-US" sz="2400" b="1" dirty="0"/>
              <a:t>1. Electric Motor: </a:t>
            </a:r>
          </a:p>
          <a:p>
            <a:pPr marL="342900" indent="-342900">
              <a:buFont typeface="Arial" panose="020B0604020202020204" pitchFamily="34" charset="0"/>
              <a:buChar char="•"/>
            </a:pPr>
            <a:r>
              <a:rPr lang="en-US" sz="2400" dirty="0"/>
              <a:t>Converts electrical energy into mechanical energy to propel the vehicle.</a:t>
            </a:r>
          </a:p>
          <a:p>
            <a:pPr marL="342900" indent="-342900">
              <a:buFont typeface="Arial" panose="020B0604020202020204" pitchFamily="34" charset="0"/>
              <a:buChar char="•"/>
            </a:pPr>
            <a:r>
              <a:rPr lang="en-US" sz="2400" dirty="0"/>
              <a:t>By serving these purposes, electric motors play a crucial role in enabling EVs to operate efficiently, smoothly, and quietly.</a:t>
            </a:r>
          </a:p>
          <a:p>
            <a:r>
              <a:rPr lang="en-US" sz="2400" b="1" dirty="0"/>
              <a:t>2. Battery Pack: </a:t>
            </a:r>
            <a:endParaRPr lang="en-US" sz="2400" dirty="0"/>
          </a:p>
          <a:p>
            <a:pPr marL="342900" indent="-342900">
              <a:buFont typeface="Arial" panose="020B0604020202020204" pitchFamily="34" charset="0"/>
              <a:buChar char="•"/>
            </a:pPr>
            <a:r>
              <a:rPr lang="en-US" sz="2400" dirty="0"/>
              <a:t>The battery pack stores electrical energy that powers the vehicle</a:t>
            </a:r>
          </a:p>
          <a:p>
            <a:pPr marL="342900" indent="-342900">
              <a:buFont typeface="Arial" panose="020B0604020202020204" pitchFamily="34" charset="0"/>
              <a:buChar char="•"/>
            </a:pPr>
            <a:r>
              <a:rPr lang="en-US" sz="2400" dirty="0"/>
              <a:t>The battery pack supplies energy to the electric motor, enabling the vehicle to move.</a:t>
            </a:r>
          </a:p>
          <a:p>
            <a:r>
              <a:rPr lang="en-US" sz="2400" b="1" dirty="0"/>
              <a:t>3. Power Electronics Controller:</a:t>
            </a:r>
          </a:p>
          <a:p>
            <a:pPr marL="342900" indent="-342900">
              <a:buFont typeface="Arial" panose="020B0604020202020204" pitchFamily="34" charset="0"/>
              <a:buChar char="•"/>
            </a:pPr>
            <a:r>
              <a:rPr lang="en-US" sz="2400" b="1" dirty="0"/>
              <a:t> </a:t>
            </a:r>
            <a:r>
              <a:rPr lang="en-US" sz="2400" dirty="0"/>
              <a:t>Regulate the flow of electrical energy between the battery, motor, and other components</a:t>
            </a:r>
          </a:p>
          <a:p>
            <a:pPr marL="342900" indent="-342900">
              <a:buFont typeface="Arial" panose="020B0604020202020204" pitchFamily="34" charset="0"/>
              <a:buChar char="•"/>
            </a:pPr>
            <a:r>
              <a:rPr lang="en-US" sz="2400" dirty="0"/>
              <a:t> Control the electric motor's speed, torque, and direction.</a:t>
            </a:r>
          </a:p>
          <a:p>
            <a:pPr marL="342900" indent="-342900">
              <a:buFont typeface="Arial" panose="020B0604020202020204" pitchFamily="34" charset="0"/>
              <a:buChar char="•"/>
            </a:pPr>
            <a:r>
              <a:rPr lang="en-US" sz="2400" dirty="0"/>
              <a:t>Monitor and protect the electrical system from overcurrent, overvoltage, and other potential faults.</a:t>
            </a:r>
          </a:p>
          <a:p>
            <a:r>
              <a:rPr lang="en-US" sz="2400" b="1" dirty="0"/>
              <a:t> </a:t>
            </a:r>
            <a:endParaRPr lang="en-US" sz="2400" dirty="0"/>
          </a:p>
        </p:txBody>
      </p:sp>
      <p:pic>
        <p:nvPicPr>
          <p:cNvPr id="5" name="Picture 4">
            <a:extLst>
              <a:ext uri="{FF2B5EF4-FFF2-40B4-BE49-F238E27FC236}">
                <a16:creationId xmlns:a16="http://schemas.microsoft.com/office/drawing/2014/main" id="{0567A475-2838-B828-EF12-C31F365C54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82037" y="0"/>
            <a:ext cx="4343400" cy="2962028"/>
          </a:xfrm>
          <a:prstGeom prst="rect">
            <a:avLst/>
          </a:prstGeom>
        </p:spPr>
      </p:pic>
      <p:pic>
        <p:nvPicPr>
          <p:cNvPr id="7" name="Picture 6">
            <a:extLst>
              <a:ext uri="{FF2B5EF4-FFF2-40B4-BE49-F238E27FC236}">
                <a16:creationId xmlns:a16="http://schemas.microsoft.com/office/drawing/2014/main" id="{58AA4907-CEA4-791F-6694-40FE132E5A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87322" y="2962028"/>
            <a:ext cx="4500563" cy="2648187"/>
          </a:xfrm>
          <a:prstGeom prst="rect">
            <a:avLst/>
          </a:prstGeom>
        </p:spPr>
      </p:pic>
      <p:pic>
        <p:nvPicPr>
          <p:cNvPr id="9" name="Picture 8">
            <a:extLst>
              <a:ext uri="{FF2B5EF4-FFF2-40B4-BE49-F238E27FC236}">
                <a16:creationId xmlns:a16="http://schemas.microsoft.com/office/drawing/2014/main" id="{B0B3B1F7-F9C2-C23E-8C49-B3289735B7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20241" y="5780881"/>
            <a:ext cx="2205196" cy="1494175"/>
          </a:xfrm>
          <a:prstGeom prst="rect">
            <a:avLst/>
          </a:prstGeom>
        </p:spPr>
      </p:pic>
      <p:pic>
        <p:nvPicPr>
          <p:cNvPr id="11" name="Picture 10">
            <a:extLst>
              <a:ext uri="{FF2B5EF4-FFF2-40B4-BE49-F238E27FC236}">
                <a16:creationId xmlns:a16="http://schemas.microsoft.com/office/drawing/2014/main" id="{580CBD19-C1AB-C161-422B-1F49D065FC3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21257316">
            <a:off x="8729180" y="6354680"/>
            <a:ext cx="2089072" cy="817347"/>
          </a:xfrm>
          <a:prstGeom prst="rect">
            <a:avLst/>
          </a:prstGeom>
        </p:spPr>
      </p:pic>
      <p:sp>
        <p:nvSpPr>
          <p:cNvPr id="12" name="TextBox 11">
            <a:extLst>
              <a:ext uri="{FF2B5EF4-FFF2-40B4-BE49-F238E27FC236}">
                <a16:creationId xmlns:a16="http://schemas.microsoft.com/office/drawing/2014/main" id="{B10DA35A-BAFA-1040-FDCC-C010FD4E3FA6}"/>
              </a:ext>
            </a:extLst>
          </p:cNvPr>
          <p:cNvSpPr txBox="1"/>
          <p:nvPr/>
        </p:nvSpPr>
        <p:spPr>
          <a:xfrm>
            <a:off x="9977437" y="65881"/>
            <a:ext cx="1219200" cy="446276"/>
          </a:xfrm>
          <a:prstGeom prst="rect">
            <a:avLst/>
          </a:prstGeom>
          <a:noFill/>
        </p:spPr>
        <p:txBody>
          <a:bodyPr wrap="square" rtlCol="0">
            <a:spAutoFit/>
          </a:bodyPr>
          <a:lstStyle/>
          <a:p>
            <a:r>
              <a:rPr lang="en-US" b="1" dirty="0"/>
              <a:t>Motor</a:t>
            </a:r>
            <a:endParaRPr lang="en-IN" b="1" dirty="0"/>
          </a:p>
        </p:txBody>
      </p:sp>
      <p:sp>
        <p:nvSpPr>
          <p:cNvPr id="13" name="TextBox 12">
            <a:extLst>
              <a:ext uri="{FF2B5EF4-FFF2-40B4-BE49-F238E27FC236}">
                <a16:creationId xmlns:a16="http://schemas.microsoft.com/office/drawing/2014/main" id="{B258086A-F983-3B3D-D778-A0C3DB30D8A0}"/>
              </a:ext>
            </a:extLst>
          </p:cNvPr>
          <p:cNvSpPr txBox="1"/>
          <p:nvPr/>
        </p:nvSpPr>
        <p:spPr>
          <a:xfrm>
            <a:off x="9901237" y="3027909"/>
            <a:ext cx="1905000" cy="446276"/>
          </a:xfrm>
          <a:prstGeom prst="rect">
            <a:avLst/>
          </a:prstGeom>
          <a:noFill/>
        </p:spPr>
        <p:txBody>
          <a:bodyPr wrap="square" rtlCol="0">
            <a:spAutoFit/>
          </a:bodyPr>
          <a:lstStyle/>
          <a:p>
            <a:r>
              <a:rPr lang="en-US" b="1" dirty="0"/>
              <a:t>Battery pack</a:t>
            </a:r>
            <a:endParaRPr lang="en-IN" b="1" dirty="0"/>
          </a:p>
        </p:txBody>
      </p:sp>
      <p:sp>
        <p:nvSpPr>
          <p:cNvPr id="14" name="TextBox 13">
            <a:extLst>
              <a:ext uri="{FF2B5EF4-FFF2-40B4-BE49-F238E27FC236}">
                <a16:creationId xmlns:a16="http://schemas.microsoft.com/office/drawing/2014/main" id="{1CC5E506-DD20-3A71-4157-C35281936220}"/>
              </a:ext>
            </a:extLst>
          </p:cNvPr>
          <p:cNvSpPr txBox="1"/>
          <p:nvPr/>
        </p:nvSpPr>
        <p:spPr>
          <a:xfrm>
            <a:off x="10386592" y="5609108"/>
            <a:ext cx="1371600" cy="446276"/>
          </a:xfrm>
          <a:prstGeom prst="rect">
            <a:avLst/>
          </a:prstGeom>
          <a:noFill/>
        </p:spPr>
        <p:txBody>
          <a:bodyPr wrap="square" rtlCol="0">
            <a:spAutoFit/>
          </a:bodyPr>
          <a:lstStyle/>
          <a:p>
            <a:r>
              <a:rPr lang="en-US" b="1" dirty="0"/>
              <a:t>PEC’s</a:t>
            </a:r>
            <a:endParaRPr lang="en-IN" b="1" dirty="0"/>
          </a:p>
        </p:txBody>
      </p:sp>
      <p:sp>
        <p:nvSpPr>
          <p:cNvPr id="4" name="TextBox 3">
            <a:extLst>
              <a:ext uri="{FF2B5EF4-FFF2-40B4-BE49-F238E27FC236}">
                <a16:creationId xmlns:a16="http://schemas.microsoft.com/office/drawing/2014/main" id="{16C05E72-94CB-DA96-5092-CF07070EC46B}"/>
              </a:ext>
            </a:extLst>
          </p:cNvPr>
          <p:cNvSpPr txBox="1"/>
          <p:nvPr/>
        </p:nvSpPr>
        <p:spPr>
          <a:xfrm>
            <a:off x="6122964" y="7000081"/>
            <a:ext cx="506958" cy="446276"/>
          </a:xfrm>
          <a:prstGeom prst="rect">
            <a:avLst/>
          </a:prstGeom>
          <a:noFill/>
        </p:spPr>
        <p:txBody>
          <a:bodyPr wrap="square" rtlCol="0">
            <a:spAutoFit/>
          </a:bodyPr>
          <a:lstStyle/>
          <a:p>
            <a:r>
              <a:rPr lang="en-US" dirty="0"/>
              <a:t>8</a:t>
            </a:r>
            <a:endParaRPr lang="en-IN" dirty="0"/>
          </a:p>
        </p:txBody>
      </p:sp>
    </p:spTree>
    <p:extLst>
      <p:ext uri="{BB962C8B-B14F-4D97-AF65-F5344CB8AC3E}">
        <p14:creationId xmlns:p14="http://schemas.microsoft.com/office/powerpoint/2010/main" val="3453204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50100E-538A-0991-8FB5-60588201EF8A}"/>
              </a:ext>
            </a:extLst>
          </p:cNvPr>
          <p:cNvSpPr txBox="1"/>
          <p:nvPr/>
        </p:nvSpPr>
        <p:spPr>
          <a:xfrm>
            <a:off x="300037" y="294481"/>
            <a:ext cx="8763000" cy="2923877"/>
          </a:xfrm>
          <a:prstGeom prst="rect">
            <a:avLst/>
          </a:prstGeom>
          <a:noFill/>
        </p:spPr>
        <p:txBody>
          <a:bodyPr wrap="square" rtlCol="0">
            <a:spAutoFit/>
          </a:bodyPr>
          <a:lstStyle/>
          <a:p>
            <a:r>
              <a:rPr lang="en-US" b="1" dirty="0"/>
              <a:t>4. Charging System :</a:t>
            </a:r>
          </a:p>
          <a:p>
            <a:pPr marL="342900" indent="-342900">
              <a:buFont typeface="Arial" panose="020B0604020202020204" pitchFamily="34" charset="0"/>
              <a:buChar char="•"/>
            </a:pPr>
            <a:r>
              <a:rPr lang="en-US" b="1" dirty="0"/>
              <a:t> </a:t>
            </a:r>
            <a:r>
              <a:rPr lang="en-US" dirty="0"/>
              <a:t>Allows the vehicle to recharge its battery from the external power  </a:t>
            </a:r>
          </a:p>
          <a:p>
            <a:pPr marL="342900" indent="-342900">
              <a:buFont typeface="Arial" panose="020B0604020202020204" pitchFamily="34" charset="0"/>
              <a:buChar char="•"/>
            </a:pPr>
            <a:r>
              <a:rPr lang="en-US" dirty="0"/>
              <a:t> Uses a standard 120V AC outlet, suitable for overnight charging at home. Charging speed: 2-5 miles per hour.</a:t>
            </a:r>
          </a:p>
          <a:p>
            <a:pPr marL="342900" indent="-342900">
              <a:buFont typeface="Arial" panose="020B0604020202020204" pitchFamily="34" charset="0"/>
              <a:buChar char="•"/>
            </a:pPr>
            <a:r>
              <a:rPr lang="en-US" dirty="0"/>
              <a:t> Utilizes a 240V AC charger, commonly used for home and public charging stations. Charging speed: 10-25 miles per hour.</a:t>
            </a:r>
          </a:p>
          <a:p>
            <a:pPr marL="342900" indent="-342900">
              <a:buFont typeface="Arial" panose="020B0604020202020204" pitchFamily="34" charset="0"/>
              <a:buChar char="•"/>
            </a:pPr>
            <a:r>
              <a:rPr lang="en-US" dirty="0"/>
              <a:t> The fastest method, delivering high power directly to the battery. Charging speed: 60-100 miles in 30 minutes </a:t>
            </a:r>
            <a:endParaRPr lang="en-IN" dirty="0"/>
          </a:p>
        </p:txBody>
      </p:sp>
      <p:sp>
        <p:nvSpPr>
          <p:cNvPr id="4" name="TextBox 3">
            <a:extLst>
              <a:ext uri="{FF2B5EF4-FFF2-40B4-BE49-F238E27FC236}">
                <a16:creationId xmlns:a16="http://schemas.microsoft.com/office/drawing/2014/main" id="{46F7867C-CCC2-C8E0-0F44-42F3A8D6F7AA}"/>
              </a:ext>
            </a:extLst>
          </p:cNvPr>
          <p:cNvSpPr txBox="1"/>
          <p:nvPr/>
        </p:nvSpPr>
        <p:spPr>
          <a:xfrm>
            <a:off x="528637" y="3528666"/>
            <a:ext cx="5943600" cy="2923877"/>
          </a:xfrm>
          <a:prstGeom prst="rect">
            <a:avLst/>
          </a:prstGeom>
          <a:noFill/>
        </p:spPr>
        <p:txBody>
          <a:bodyPr wrap="square" rtlCol="0">
            <a:spAutoFit/>
          </a:bodyPr>
          <a:lstStyle/>
          <a:p>
            <a:r>
              <a:rPr lang="en-US" b="1" dirty="0"/>
              <a:t>5. Transmission system :</a:t>
            </a:r>
          </a:p>
          <a:p>
            <a:pPr algn="just"/>
            <a:r>
              <a:rPr lang="en-US" dirty="0"/>
              <a:t>In Electric Vehicles (EVs), the transmission system plays a role in transferring power from the electric motor(s) to the wheels. Unlike traditional internal combustion engine vehicles, EVs often use simpler transmission systems due to the electric motor's characteristics</a:t>
            </a:r>
          </a:p>
          <a:p>
            <a:endParaRPr lang="en-IN" b="1" dirty="0"/>
          </a:p>
        </p:txBody>
      </p:sp>
      <p:pic>
        <p:nvPicPr>
          <p:cNvPr id="6" name="Picture 5">
            <a:extLst>
              <a:ext uri="{FF2B5EF4-FFF2-40B4-BE49-F238E27FC236}">
                <a16:creationId xmlns:a16="http://schemas.microsoft.com/office/drawing/2014/main" id="{81AB4E19-1D63-73B2-5277-A8737BA50C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0279" y="294481"/>
            <a:ext cx="4181684" cy="2799754"/>
          </a:xfrm>
          <a:prstGeom prst="rect">
            <a:avLst/>
          </a:prstGeom>
        </p:spPr>
      </p:pic>
      <p:pic>
        <p:nvPicPr>
          <p:cNvPr id="8" name="Picture 7">
            <a:extLst>
              <a:ext uri="{FF2B5EF4-FFF2-40B4-BE49-F238E27FC236}">
                <a16:creationId xmlns:a16="http://schemas.microsoft.com/office/drawing/2014/main" id="{1D84D06A-5153-E872-3F34-44AEC61910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7314" y="3875881"/>
            <a:ext cx="6469726" cy="3386497"/>
          </a:xfrm>
          <a:prstGeom prst="rect">
            <a:avLst/>
          </a:prstGeom>
        </p:spPr>
      </p:pic>
      <p:sp>
        <p:nvSpPr>
          <p:cNvPr id="9" name="TextBox 8">
            <a:extLst>
              <a:ext uri="{FF2B5EF4-FFF2-40B4-BE49-F238E27FC236}">
                <a16:creationId xmlns:a16="http://schemas.microsoft.com/office/drawing/2014/main" id="{4938F670-E3E9-6E5D-5D32-C2AC10E7013A}"/>
              </a:ext>
            </a:extLst>
          </p:cNvPr>
          <p:cNvSpPr txBox="1"/>
          <p:nvPr/>
        </p:nvSpPr>
        <p:spPr>
          <a:xfrm>
            <a:off x="10129837" y="370681"/>
            <a:ext cx="2438400" cy="457200"/>
          </a:xfrm>
          <a:prstGeom prst="rect">
            <a:avLst/>
          </a:prstGeom>
          <a:noFill/>
        </p:spPr>
        <p:txBody>
          <a:bodyPr wrap="square" rtlCol="0">
            <a:spAutoFit/>
          </a:bodyPr>
          <a:lstStyle/>
          <a:p>
            <a:r>
              <a:rPr lang="en-US" b="1" dirty="0"/>
              <a:t>Charging System </a:t>
            </a:r>
            <a:endParaRPr lang="en-IN" b="1" dirty="0"/>
          </a:p>
        </p:txBody>
      </p:sp>
      <p:sp>
        <p:nvSpPr>
          <p:cNvPr id="10" name="TextBox 9">
            <a:extLst>
              <a:ext uri="{FF2B5EF4-FFF2-40B4-BE49-F238E27FC236}">
                <a16:creationId xmlns:a16="http://schemas.microsoft.com/office/drawing/2014/main" id="{99FD0737-F78F-6A13-C1A3-EE4ED295C0C0}"/>
              </a:ext>
            </a:extLst>
          </p:cNvPr>
          <p:cNvSpPr txBox="1"/>
          <p:nvPr/>
        </p:nvSpPr>
        <p:spPr>
          <a:xfrm>
            <a:off x="9748837" y="3218358"/>
            <a:ext cx="2819400" cy="446276"/>
          </a:xfrm>
          <a:prstGeom prst="rect">
            <a:avLst/>
          </a:prstGeom>
          <a:noFill/>
        </p:spPr>
        <p:txBody>
          <a:bodyPr wrap="square" rtlCol="0">
            <a:spAutoFit/>
          </a:bodyPr>
          <a:lstStyle/>
          <a:p>
            <a:r>
              <a:rPr lang="en-US" b="1" dirty="0"/>
              <a:t>Transmission System</a:t>
            </a:r>
            <a:endParaRPr lang="en-US" sz="2300" b="1" kern="1200" dirty="0">
              <a:solidFill>
                <a:schemeClr val="tx1"/>
              </a:solidFill>
              <a:latin typeface="+mn-lt"/>
              <a:ea typeface="+mn-ea"/>
              <a:cs typeface="+mn-cs"/>
            </a:endParaRPr>
          </a:p>
        </p:txBody>
      </p:sp>
      <p:sp>
        <p:nvSpPr>
          <p:cNvPr id="2" name="TextBox 1">
            <a:extLst>
              <a:ext uri="{FF2B5EF4-FFF2-40B4-BE49-F238E27FC236}">
                <a16:creationId xmlns:a16="http://schemas.microsoft.com/office/drawing/2014/main" id="{79F7319F-87EB-3243-CCFE-9731F1E0E84C}"/>
              </a:ext>
            </a:extLst>
          </p:cNvPr>
          <p:cNvSpPr txBox="1"/>
          <p:nvPr/>
        </p:nvSpPr>
        <p:spPr>
          <a:xfrm>
            <a:off x="6044476" y="6855671"/>
            <a:ext cx="990600" cy="446276"/>
          </a:xfrm>
          <a:prstGeom prst="rect">
            <a:avLst/>
          </a:prstGeom>
          <a:noFill/>
        </p:spPr>
        <p:txBody>
          <a:bodyPr wrap="square" rtlCol="0">
            <a:spAutoFit/>
          </a:bodyPr>
          <a:lstStyle/>
          <a:p>
            <a:r>
              <a:rPr lang="en-US" dirty="0"/>
              <a:t>9</a:t>
            </a:r>
            <a:endParaRPr lang="en-IN" dirty="0"/>
          </a:p>
        </p:txBody>
      </p:sp>
    </p:spTree>
    <p:extLst>
      <p:ext uri="{BB962C8B-B14F-4D97-AF65-F5344CB8AC3E}">
        <p14:creationId xmlns:p14="http://schemas.microsoft.com/office/powerpoint/2010/main" val="209697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C2F89D-0853-1D5A-A3BF-F6CCB634DFC2}"/>
              </a:ext>
            </a:extLst>
          </p:cNvPr>
          <p:cNvSpPr txBox="1"/>
          <p:nvPr/>
        </p:nvSpPr>
        <p:spPr>
          <a:xfrm>
            <a:off x="376237" y="365219"/>
            <a:ext cx="6934200" cy="3962400"/>
          </a:xfrm>
          <a:prstGeom prst="rect">
            <a:avLst/>
          </a:prstGeom>
          <a:noFill/>
        </p:spPr>
        <p:txBody>
          <a:bodyPr wrap="square" rtlCol="0">
            <a:spAutoFit/>
          </a:bodyPr>
          <a:lstStyle/>
          <a:p>
            <a:r>
              <a:rPr lang="en-US" b="1" dirty="0"/>
              <a:t>6. Regenerative Braking System:</a:t>
            </a:r>
          </a:p>
          <a:p>
            <a:pPr marL="342900" indent="-342900">
              <a:buFont typeface="Arial" panose="020B0604020202020204" pitchFamily="34" charset="0"/>
              <a:buChar char="•"/>
            </a:pPr>
            <a:r>
              <a:rPr lang="en-US" dirty="0"/>
              <a:t>Regenerative braking is a key feature in Electric Vehicles (EVs) that captures kinetic energy generated during braking or coasting and converts it into electrical energy.</a:t>
            </a:r>
          </a:p>
          <a:p>
            <a:pPr marL="342900" indent="-342900">
              <a:buFont typeface="Arial" panose="020B0604020202020204" pitchFamily="34" charset="0"/>
              <a:buChar char="•"/>
            </a:pPr>
            <a:r>
              <a:rPr lang="en-US" dirty="0"/>
              <a:t> This energy is then stored in the vehicle's battery, improving overall efficiency and range.</a:t>
            </a:r>
          </a:p>
          <a:p>
            <a:pPr marL="342900" indent="-342900">
              <a:buFont typeface="Arial" panose="020B0604020202020204" pitchFamily="34" charset="0"/>
              <a:buChar char="•"/>
            </a:pPr>
            <a:r>
              <a:rPr lang="en-US" dirty="0"/>
              <a:t>Regenerative braking is a crucial technology in EVs, enhancing their efficiency, range, and overall performance.</a:t>
            </a:r>
          </a:p>
          <a:p>
            <a:endParaRPr lang="en-IN" b="1" dirty="0"/>
          </a:p>
        </p:txBody>
      </p:sp>
      <p:sp>
        <p:nvSpPr>
          <p:cNvPr id="3" name="TextBox 2">
            <a:extLst>
              <a:ext uri="{FF2B5EF4-FFF2-40B4-BE49-F238E27FC236}">
                <a16:creationId xmlns:a16="http://schemas.microsoft.com/office/drawing/2014/main" id="{C26C3FE9-5F50-8B92-B9CF-B3F911D149C7}"/>
              </a:ext>
            </a:extLst>
          </p:cNvPr>
          <p:cNvSpPr txBox="1"/>
          <p:nvPr/>
        </p:nvSpPr>
        <p:spPr>
          <a:xfrm>
            <a:off x="328769" y="3952079"/>
            <a:ext cx="6934200" cy="2923877"/>
          </a:xfrm>
          <a:prstGeom prst="rect">
            <a:avLst/>
          </a:prstGeom>
          <a:noFill/>
        </p:spPr>
        <p:txBody>
          <a:bodyPr wrap="square" rtlCol="0">
            <a:spAutoFit/>
          </a:bodyPr>
          <a:lstStyle/>
          <a:p>
            <a:r>
              <a:rPr lang="en-US" b="1" dirty="0"/>
              <a:t>7. Battery Management System(BMS):</a:t>
            </a:r>
          </a:p>
          <a:p>
            <a:pPr marL="342900" indent="-342900">
              <a:buFont typeface="Arial" panose="020B0604020202020204" pitchFamily="34" charset="0"/>
              <a:buChar char="•"/>
            </a:pPr>
            <a:r>
              <a:rPr lang="en-US" dirty="0"/>
              <a:t>A Battery Management System (BMS) is a critical component in Electric Vehicles (EVs) that monitors and controls the battery pack's performance, ensuring safe and efficient operation.</a:t>
            </a:r>
          </a:p>
          <a:p>
            <a:pPr marL="342900" indent="-342900">
              <a:buFont typeface="Arial" panose="020B0604020202020204" pitchFamily="34" charset="0"/>
              <a:buChar char="•"/>
            </a:pPr>
            <a:r>
              <a:rPr lang="en-US" dirty="0"/>
              <a:t>The BMS plays a vital role in maintaining the health and performance of EV batteries, ensuring a safe and efficient driving experience.</a:t>
            </a:r>
            <a:endParaRPr lang="en-IN" dirty="0"/>
          </a:p>
        </p:txBody>
      </p:sp>
      <p:pic>
        <p:nvPicPr>
          <p:cNvPr id="5" name="Picture 4">
            <a:extLst>
              <a:ext uri="{FF2B5EF4-FFF2-40B4-BE49-F238E27FC236}">
                <a16:creationId xmlns:a16="http://schemas.microsoft.com/office/drawing/2014/main" id="{8DCD0DAC-E2B1-0F6F-0116-5CBF90236E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2602" y="523081"/>
            <a:ext cx="5867400" cy="2569934"/>
          </a:xfrm>
          <a:prstGeom prst="rect">
            <a:avLst/>
          </a:prstGeom>
        </p:spPr>
      </p:pic>
      <p:pic>
        <p:nvPicPr>
          <p:cNvPr id="7" name="Picture 6">
            <a:extLst>
              <a:ext uri="{FF2B5EF4-FFF2-40B4-BE49-F238E27FC236}">
                <a16:creationId xmlns:a16="http://schemas.microsoft.com/office/drawing/2014/main" id="{4784EAE8-1166-56E2-1F07-2DE7409084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12602" y="3811437"/>
            <a:ext cx="5812835" cy="3205163"/>
          </a:xfrm>
          <a:prstGeom prst="rect">
            <a:avLst/>
          </a:prstGeom>
        </p:spPr>
      </p:pic>
      <p:sp>
        <p:nvSpPr>
          <p:cNvPr id="8" name="TextBox 7">
            <a:extLst>
              <a:ext uri="{FF2B5EF4-FFF2-40B4-BE49-F238E27FC236}">
                <a16:creationId xmlns:a16="http://schemas.microsoft.com/office/drawing/2014/main" id="{859269B4-A55B-B3D9-DBD2-EC0127A31617}"/>
              </a:ext>
            </a:extLst>
          </p:cNvPr>
          <p:cNvSpPr txBox="1"/>
          <p:nvPr/>
        </p:nvSpPr>
        <p:spPr>
          <a:xfrm>
            <a:off x="8976019" y="142081"/>
            <a:ext cx="3211218" cy="446276"/>
          </a:xfrm>
          <a:prstGeom prst="rect">
            <a:avLst/>
          </a:prstGeom>
          <a:noFill/>
        </p:spPr>
        <p:txBody>
          <a:bodyPr wrap="square" rtlCol="0">
            <a:spAutoFit/>
          </a:bodyPr>
          <a:lstStyle/>
          <a:p>
            <a:pPr algn="ctr"/>
            <a:r>
              <a:rPr lang="en-US" b="1" dirty="0"/>
              <a:t>Regenerative Braking</a:t>
            </a:r>
            <a:endParaRPr lang="en-IN" b="1" dirty="0"/>
          </a:p>
        </p:txBody>
      </p:sp>
      <p:sp>
        <p:nvSpPr>
          <p:cNvPr id="9" name="TextBox 8">
            <a:extLst>
              <a:ext uri="{FF2B5EF4-FFF2-40B4-BE49-F238E27FC236}">
                <a16:creationId xmlns:a16="http://schemas.microsoft.com/office/drawing/2014/main" id="{B33083F2-9C19-3A44-F362-41F9EF3C4A96}"/>
              </a:ext>
            </a:extLst>
          </p:cNvPr>
          <p:cNvSpPr txBox="1"/>
          <p:nvPr/>
        </p:nvSpPr>
        <p:spPr>
          <a:xfrm>
            <a:off x="8453437" y="3263149"/>
            <a:ext cx="4191000" cy="446276"/>
          </a:xfrm>
          <a:prstGeom prst="rect">
            <a:avLst/>
          </a:prstGeom>
          <a:noFill/>
        </p:spPr>
        <p:txBody>
          <a:bodyPr wrap="square" rtlCol="0">
            <a:spAutoFit/>
          </a:bodyPr>
          <a:lstStyle/>
          <a:p>
            <a:pPr algn="ctr"/>
            <a:r>
              <a:rPr lang="en-US" b="1" dirty="0"/>
              <a:t>Battery Management System</a:t>
            </a:r>
            <a:endParaRPr lang="en-IN" b="1" dirty="0"/>
          </a:p>
        </p:txBody>
      </p:sp>
      <p:sp>
        <p:nvSpPr>
          <p:cNvPr id="4" name="TextBox 3">
            <a:extLst>
              <a:ext uri="{FF2B5EF4-FFF2-40B4-BE49-F238E27FC236}">
                <a16:creationId xmlns:a16="http://schemas.microsoft.com/office/drawing/2014/main" id="{E0FB6ED2-08E8-BA5D-57FB-A2BF4BDA41B6}"/>
              </a:ext>
            </a:extLst>
          </p:cNvPr>
          <p:cNvSpPr txBox="1"/>
          <p:nvPr/>
        </p:nvSpPr>
        <p:spPr>
          <a:xfrm>
            <a:off x="5938837" y="6959158"/>
            <a:ext cx="533400" cy="446276"/>
          </a:xfrm>
          <a:prstGeom prst="rect">
            <a:avLst/>
          </a:prstGeom>
          <a:noFill/>
        </p:spPr>
        <p:txBody>
          <a:bodyPr wrap="square" rtlCol="0">
            <a:spAutoFit/>
          </a:bodyPr>
          <a:lstStyle/>
          <a:p>
            <a:r>
              <a:rPr lang="en-US" dirty="0"/>
              <a:t>10</a:t>
            </a:r>
            <a:endParaRPr lang="en-IN" dirty="0"/>
          </a:p>
        </p:txBody>
      </p:sp>
    </p:spTree>
    <p:extLst>
      <p:ext uri="{BB962C8B-B14F-4D97-AF65-F5344CB8AC3E}">
        <p14:creationId xmlns:p14="http://schemas.microsoft.com/office/powerpoint/2010/main" val="537389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1DABF0-A871-EEAC-4AD5-406CEA7CAACB}"/>
              </a:ext>
            </a:extLst>
          </p:cNvPr>
          <p:cNvSpPr txBox="1"/>
          <p:nvPr/>
        </p:nvSpPr>
        <p:spPr>
          <a:xfrm>
            <a:off x="452437" y="294481"/>
            <a:ext cx="7162800" cy="2923877"/>
          </a:xfrm>
          <a:prstGeom prst="rect">
            <a:avLst/>
          </a:prstGeom>
          <a:noFill/>
        </p:spPr>
        <p:txBody>
          <a:bodyPr wrap="square" rtlCol="0">
            <a:spAutoFit/>
          </a:bodyPr>
          <a:lstStyle/>
          <a:p>
            <a:r>
              <a:rPr lang="en-US" b="1" dirty="0"/>
              <a:t>8. Thermal Management System :</a:t>
            </a:r>
          </a:p>
          <a:p>
            <a:pPr marL="342900" indent="-342900">
              <a:buFont typeface="Arial" panose="020B0604020202020204" pitchFamily="34" charset="0"/>
              <a:buChar char="•"/>
            </a:pPr>
            <a:r>
              <a:rPr lang="en-US" dirty="0"/>
              <a:t>Thermal management in Electric Vehicles (EVs) refers to the systems and techniques used to regulate the temperature of the battery, electric motor, and other components. </a:t>
            </a:r>
          </a:p>
          <a:p>
            <a:pPr marL="342900" indent="-342900">
              <a:buFont typeface="Arial" panose="020B0604020202020204" pitchFamily="34" charset="0"/>
              <a:buChar char="•"/>
            </a:pPr>
            <a:r>
              <a:rPr lang="en-US" dirty="0"/>
              <a:t>Effective thermal management is essential for ensuring the reliability, efficiency, and longevity of EV components.</a:t>
            </a:r>
            <a:endParaRPr lang="en-IN" dirty="0"/>
          </a:p>
        </p:txBody>
      </p:sp>
      <p:pic>
        <p:nvPicPr>
          <p:cNvPr id="4" name="Picture 3">
            <a:extLst>
              <a:ext uri="{FF2B5EF4-FFF2-40B4-BE49-F238E27FC236}">
                <a16:creationId xmlns:a16="http://schemas.microsoft.com/office/drawing/2014/main" id="{8B101FAB-38B4-8D5D-73CD-823C96B700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5657" y="508793"/>
            <a:ext cx="5763618" cy="3367088"/>
          </a:xfrm>
          <a:prstGeom prst="rect">
            <a:avLst/>
          </a:prstGeom>
        </p:spPr>
      </p:pic>
      <p:sp>
        <p:nvSpPr>
          <p:cNvPr id="6" name="TextBox 5">
            <a:extLst>
              <a:ext uri="{FF2B5EF4-FFF2-40B4-BE49-F238E27FC236}">
                <a16:creationId xmlns:a16="http://schemas.microsoft.com/office/drawing/2014/main" id="{41B8D0AE-18A8-21F6-1130-7DFC581A93DE}"/>
              </a:ext>
            </a:extLst>
          </p:cNvPr>
          <p:cNvSpPr txBox="1"/>
          <p:nvPr/>
        </p:nvSpPr>
        <p:spPr>
          <a:xfrm>
            <a:off x="567811" y="3342481"/>
            <a:ext cx="6802473" cy="3631763"/>
          </a:xfrm>
          <a:prstGeom prst="rect">
            <a:avLst/>
          </a:prstGeom>
          <a:noFill/>
        </p:spPr>
        <p:txBody>
          <a:bodyPr wrap="square" rtlCol="0">
            <a:spAutoFit/>
          </a:bodyPr>
          <a:lstStyle/>
          <a:p>
            <a:pPr marL="342900" indent="-342900">
              <a:buFont typeface="Arial" panose="020B0604020202020204" pitchFamily="34" charset="0"/>
              <a:buChar char="•"/>
            </a:pPr>
            <a:r>
              <a:rPr lang="en-US" b="1" dirty="0"/>
              <a:t>9. Chassis :</a:t>
            </a:r>
          </a:p>
          <a:p>
            <a:pPr marL="342900" indent="-342900">
              <a:buFont typeface="Arial" panose="020B0604020202020204" pitchFamily="34" charset="0"/>
              <a:buChar char="•"/>
            </a:pPr>
            <a:r>
              <a:rPr lang="en-US" dirty="0"/>
              <a:t>The chassis and body of an Electric Vehicle (EV) provide structural support, safety, and aerodynamics.</a:t>
            </a:r>
          </a:p>
          <a:p>
            <a:pPr marL="342900" indent="-342900">
              <a:buFont typeface="Arial" panose="020B0604020202020204" pitchFamily="34" charset="0"/>
              <a:buChar char="•"/>
            </a:pPr>
            <a:r>
              <a:rPr lang="en-US" dirty="0"/>
              <a:t>The chassis and body of an EV are designed to optimize performance, efficiency, and safety while accommodating the unique requirements of electric powertrains</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endParaRPr lang="en-IN" b="1" dirty="0"/>
          </a:p>
        </p:txBody>
      </p:sp>
      <p:sp>
        <p:nvSpPr>
          <p:cNvPr id="13" name="TextBox 12">
            <a:extLst>
              <a:ext uri="{FF2B5EF4-FFF2-40B4-BE49-F238E27FC236}">
                <a16:creationId xmlns:a16="http://schemas.microsoft.com/office/drawing/2014/main" id="{7D9FA536-78CF-612C-3699-3F9D1ECF149C}"/>
              </a:ext>
            </a:extLst>
          </p:cNvPr>
          <p:cNvSpPr txBox="1"/>
          <p:nvPr/>
        </p:nvSpPr>
        <p:spPr>
          <a:xfrm>
            <a:off x="8072437" y="142081"/>
            <a:ext cx="4724400" cy="446276"/>
          </a:xfrm>
          <a:prstGeom prst="rect">
            <a:avLst/>
          </a:prstGeom>
          <a:noFill/>
        </p:spPr>
        <p:txBody>
          <a:bodyPr wrap="square" rtlCol="0">
            <a:spAutoFit/>
          </a:bodyPr>
          <a:lstStyle/>
          <a:p>
            <a:pPr algn="just"/>
            <a:r>
              <a:rPr lang="en-US" b="1" dirty="0"/>
              <a:t>Thermal Management System</a:t>
            </a:r>
            <a:endParaRPr lang="en-IN" b="1" dirty="0"/>
          </a:p>
        </p:txBody>
      </p:sp>
      <p:pic>
        <p:nvPicPr>
          <p:cNvPr id="16" name="Picture 15">
            <a:extLst>
              <a:ext uri="{FF2B5EF4-FFF2-40B4-BE49-F238E27FC236}">
                <a16:creationId xmlns:a16="http://schemas.microsoft.com/office/drawing/2014/main" id="{2CAE8180-C84C-1D78-0107-FAE4F0DCE4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91437" y="4242593"/>
            <a:ext cx="5105400" cy="2871277"/>
          </a:xfrm>
          <a:prstGeom prst="rect">
            <a:avLst/>
          </a:prstGeom>
        </p:spPr>
      </p:pic>
      <p:sp>
        <p:nvSpPr>
          <p:cNvPr id="17" name="TextBox 16">
            <a:extLst>
              <a:ext uri="{FF2B5EF4-FFF2-40B4-BE49-F238E27FC236}">
                <a16:creationId xmlns:a16="http://schemas.microsoft.com/office/drawing/2014/main" id="{CA896AF0-5576-D21B-8467-5848445CC2CD}"/>
              </a:ext>
            </a:extLst>
          </p:cNvPr>
          <p:cNvSpPr txBox="1"/>
          <p:nvPr/>
        </p:nvSpPr>
        <p:spPr>
          <a:xfrm>
            <a:off x="9367837" y="4409281"/>
            <a:ext cx="1752600" cy="523220"/>
          </a:xfrm>
          <a:prstGeom prst="rect">
            <a:avLst/>
          </a:prstGeom>
          <a:noFill/>
        </p:spPr>
        <p:txBody>
          <a:bodyPr wrap="square" rtlCol="0">
            <a:spAutoFit/>
          </a:bodyPr>
          <a:lstStyle/>
          <a:p>
            <a:pPr algn="ctr"/>
            <a:r>
              <a:rPr lang="en-US" sz="2800" dirty="0">
                <a:solidFill>
                  <a:schemeClr val="bg1"/>
                </a:solidFill>
              </a:rPr>
              <a:t>Chassis</a:t>
            </a:r>
            <a:endParaRPr lang="en-IN" sz="2800" dirty="0">
              <a:solidFill>
                <a:schemeClr val="bg1"/>
              </a:solidFill>
            </a:endParaRPr>
          </a:p>
        </p:txBody>
      </p:sp>
      <p:sp>
        <p:nvSpPr>
          <p:cNvPr id="3" name="TextBox 2">
            <a:extLst>
              <a:ext uri="{FF2B5EF4-FFF2-40B4-BE49-F238E27FC236}">
                <a16:creationId xmlns:a16="http://schemas.microsoft.com/office/drawing/2014/main" id="{D6ADEC60-47BE-F9DD-C1F7-5500592625D8}"/>
              </a:ext>
            </a:extLst>
          </p:cNvPr>
          <p:cNvSpPr txBox="1"/>
          <p:nvPr/>
        </p:nvSpPr>
        <p:spPr>
          <a:xfrm>
            <a:off x="5955190" y="6875229"/>
            <a:ext cx="533400" cy="446276"/>
          </a:xfrm>
          <a:prstGeom prst="rect">
            <a:avLst/>
          </a:prstGeom>
          <a:noFill/>
        </p:spPr>
        <p:txBody>
          <a:bodyPr wrap="square" rtlCol="0">
            <a:spAutoFit/>
          </a:bodyPr>
          <a:lstStyle/>
          <a:p>
            <a:r>
              <a:rPr lang="en-US" dirty="0"/>
              <a:t>11</a:t>
            </a:r>
            <a:endParaRPr lang="en-IN" dirty="0"/>
          </a:p>
        </p:txBody>
      </p:sp>
    </p:spTree>
    <p:extLst>
      <p:ext uri="{BB962C8B-B14F-4D97-AF65-F5344CB8AC3E}">
        <p14:creationId xmlns:p14="http://schemas.microsoft.com/office/powerpoint/2010/main" val="28685640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A922CD-1ACE-1355-0BF2-695B546FCAE1}"/>
              </a:ext>
            </a:extLst>
          </p:cNvPr>
          <p:cNvSpPr txBox="1"/>
          <p:nvPr/>
        </p:nvSpPr>
        <p:spPr>
          <a:xfrm>
            <a:off x="689671" y="1279366"/>
            <a:ext cx="6248400" cy="2677656"/>
          </a:xfrm>
          <a:prstGeom prst="rect">
            <a:avLst/>
          </a:prstGeom>
          <a:noFill/>
        </p:spPr>
        <p:txBody>
          <a:bodyPr wrap="square" rtlCol="0">
            <a:spAutoFit/>
          </a:bodyPr>
          <a:lstStyle/>
          <a:p>
            <a:r>
              <a:rPr lang="en-US" sz="2400" b="1" dirty="0"/>
              <a:t>1.  Ladder Frame:</a:t>
            </a:r>
            <a:r>
              <a:rPr lang="en-US" sz="2400" dirty="0"/>
              <a:t> Derived from traditional vehicles, this chassis has two longitudinal beams linked by cross members. It provides strong structural support, suitable for heavy-duty EVs like trucks, but it is bulky and heavy, reducing efficiency and battery space.</a:t>
            </a:r>
            <a:endParaRPr lang="en-IN" sz="2400" dirty="0"/>
          </a:p>
          <a:p>
            <a:endParaRPr lang="en-IN" sz="2400" dirty="0"/>
          </a:p>
        </p:txBody>
      </p:sp>
      <p:sp>
        <p:nvSpPr>
          <p:cNvPr id="7" name="TextBox 6">
            <a:extLst>
              <a:ext uri="{FF2B5EF4-FFF2-40B4-BE49-F238E27FC236}">
                <a16:creationId xmlns:a16="http://schemas.microsoft.com/office/drawing/2014/main" id="{926EE8F9-023A-C2A4-01AA-8902FD88AAFC}"/>
              </a:ext>
            </a:extLst>
          </p:cNvPr>
          <p:cNvSpPr txBox="1"/>
          <p:nvPr/>
        </p:nvSpPr>
        <p:spPr>
          <a:xfrm>
            <a:off x="572441" y="4133517"/>
            <a:ext cx="6433195" cy="2677656"/>
          </a:xfrm>
          <a:prstGeom prst="rect">
            <a:avLst/>
          </a:prstGeom>
          <a:noFill/>
        </p:spPr>
        <p:txBody>
          <a:bodyPr wrap="square" rtlCol="0">
            <a:spAutoFit/>
          </a:bodyPr>
          <a:lstStyle/>
          <a:p>
            <a:r>
              <a:rPr lang="en-US" sz="2400" b="1" dirty="0"/>
              <a:t>2.  Tubular Chassis:</a:t>
            </a:r>
            <a:r>
              <a:rPr lang="en-US" sz="2400" dirty="0"/>
              <a:t> This chassis uses interconnected high-strength tubes forming a rigid framework. The tubes absorb and distribute stresses while minimizing weight, making it ideal for high-performance electric sports cars but expensive for mass production.</a:t>
            </a:r>
            <a:endParaRPr lang="en-IN" sz="2400" dirty="0"/>
          </a:p>
          <a:p>
            <a:endParaRPr lang="en-IN" sz="2400" dirty="0"/>
          </a:p>
        </p:txBody>
      </p:sp>
      <p:sp>
        <p:nvSpPr>
          <p:cNvPr id="8" name="TextBox 7">
            <a:extLst>
              <a:ext uri="{FF2B5EF4-FFF2-40B4-BE49-F238E27FC236}">
                <a16:creationId xmlns:a16="http://schemas.microsoft.com/office/drawing/2014/main" id="{5A09C321-63BE-17C3-B707-ADB1FF9312AC}"/>
              </a:ext>
            </a:extLst>
          </p:cNvPr>
          <p:cNvSpPr txBox="1"/>
          <p:nvPr/>
        </p:nvSpPr>
        <p:spPr>
          <a:xfrm>
            <a:off x="452437" y="525313"/>
            <a:ext cx="6970076" cy="523220"/>
          </a:xfrm>
          <a:prstGeom prst="rect">
            <a:avLst/>
          </a:prstGeom>
          <a:noFill/>
        </p:spPr>
        <p:txBody>
          <a:bodyPr wrap="square" rtlCol="0">
            <a:spAutoFit/>
          </a:bodyPr>
          <a:lstStyle/>
          <a:p>
            <a:r>
              <a:rPr lang="en-US" sz="2800" b="1" dirty="0"/>
              <a:t>Explanation of Chassis Types and Functioning:</a:t>
            </a:r>
            <a:endParaRPr lang="en-IN" sz="2800" dirty="0"/>
          </a:p>
        </p:txBody>
      </p:sp>
      <p:pic>
        <p:nvPicPr>
          <p:cNvPr id="10" name="Picture 9">
            <a:extLst>
              <a:ext uri="{FF2B5EF4-FFF2-40B4-BE49-F238E27FC236}">
                <a16:creationId xmlns:a16="http://schemas.microsoft.com/office/drawing/2014/main" id="{67819F19-518D-95B6-6FCF-30F9EE1329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4339" y="4435242"/>
            <a:ext cx="5238697" cy="2488639"/>
          </a:xfrm>
          <a:prstGeom prst="rect">
            <a:avLst/>
          </a:prstGeom>
        </p:spPr>
      </p:pic>
      <p:pic>
        <p:nvPicPr>
          <p:cNvPr id="12" name="Picture 11">
            <a:extLst>
              <a:ext uri="{FF2B5EF4-FFF2-40B4-BE49-F238E27FC236}">
                <a16:creationId xmlns:a16="http://schemas.microsoft.com/office/drawing/2014/main" id="{25FE01EC-4CA7-5A16-9EE7-26544C97FB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7029" y="978100"/>
            <a:ext cx="5640920" cy="2993369"/>
          </a:xfrm>
          <a:prstGeom prst="rect">
            <a:avLst/>
          </a:prstGeom>
        </p:spPr>
      </p:pic>
      <p:sp>
        <p:nvSpPr>
          <p:cNvPr id="13" name="TextBox 12">
            <a:extLst>
              <a:ext uri="{FF2B5EF4-FFF2-40B4-BE49-F238E27FC236}">
                <a16:creationId xmlns:a16="http://schemas.microsoft.com/office/drawing/2014/main" id="{0160EF62-E9B1-722E-5834-100C8B6011AB}"/>
              </a:ext>
            </a:extLst>
          </p:cNvPr>
          <p:cNvSpPr txBox="1"/>
          <p:nvPr/>
        </p:nvSpPr>
        <p:spPr>
          <a:xfrm>
            <a:off x="8605838" y="4079363"/>
            <a:ext cx="2362200" cy="446276"/>
          </a:xfrm>
          <a:prstGeom prst="rect">
            <a:avLst/>
          </a:prstGeom>
          <a:noFill/>
        </p:spPr>
        <p:txBody>
          <a:bodyPr wrap="square" rtlCol="0">
            <a:spAutoFit/>
          </a:bodyPr>
          <a:lstStyle/>
          <a:p>
            <a:pPr algn="r"/>
            <a:r>
              <a:rPr lang="en-US" b="1" dirty="0"/>
              <a:t>Tubular Chassis</a:t>
            </a:r>
            <a:endParaRPr lang="en-IN" b="1" dirty="0"/>
          </a:p>
        </p:txBody>
      </p:sp>
      <p:sp>
        <p:nvSpPr>
          <p:cNvPr id="14" name="TextBox 13">
            <a:extLst>
              <a:ext uri="{FF2B5EF4-FFF2-40B4-BE49-F238E27FC236}">
                <a16:creationId xmlns:a16="http://schemas.microsoft.com/office/drawing/2014/main" id="{90077CFD-FA72-B880-7158-59B813A3E640}"/>
              </a:ext>
            </a:extLst>
          </p:cNvPr>
          <p:cNvSpPr txBox="1"/>
          <p:nvPr/>
        </p:nvSpPr>
        <p:spPr>
          <a:xfrm>
            <a:off x="9215699" y="1090024"/>
            <a:ext cx="3505200" cy="461665"/>
          </a:xfrm>
          <a:prstGeom prst="rect">
            <a:avLst/>
          </a:prstGeom>
          <a:noFill/>
        </p:spPr>
        <p:txBody>
          <a:bodyPr wrap="square" rtlCol="0">
            <a:spAutoFit/>
          </a:bodyPr>
          <a:lstStyle/>
          <a:p>
            <a:pPr algn="r"/>
            <a:r>
              <a:rPr lang="en-US" sz="2400" dirty="0">
                <a:solidFill>
                  <a:schemeClr val="bg1"/>
                </a:solidFill>
              </a:rPr>
              <a:t>Ladder Frame Chassis</a:t>
            </a:r>
            <a:endParaRPr lang="en-IN" sz="2400" dirty="0">
              <a:solidFill>
                <a:schemeClr val="bg1"/>
              </a:solidFill>
            </a:endParaRPr>
          </a:p>
        </p:txBody>
      </p:sp>
      <p:sp>
        <p:nvSpPr>
          <p:cNvPr id="2" name="TextBox 1">
            <a:extLst>
              <a:ext uri="{FF2B5EF4-FFF2-40B4-BE49-F238E27FC236}">
                <a16:creationId xmlns:a16="http://schemas.microsoft.com/office/drawing/2014/main" id="{B22B58CA-732C-238A-0F1D-40749DA3610A}"/>
              </a:ext>
            </a:extLst>
          </p:cNvPr>
          <p:cNvSpPr txBox="1"/>
          <p:nvPr/>
        </p:nvSpPr>
        <p:spPr>
          <a:xfrm>
            <a:off x="6014461" y="6974588"/>
            <a:ext cx="609600" cy="446276"/>
          </a:xfrm>
          <a:prstGeom prst="rect">
            <a:avLst/>
          </a:prstGeom>
          <a:noFill/>
        </p:spPr>
        <p:txBody>
          <a:bodyPr wrap="square" rtlCol="0">
            <a:spAutoFit/>
          </a:bodyPr>
          <a:lstStyle/>
          <a:p>
            <a:r>
              <a:rPr lang="en-US" dirty="0"/>
              <a:t>12</a:t>
            </a:r>
            <a:endParaRPr lang="en-IN" dirty="0"/>
          </a:p>
        </p:txBody>
      </p:sp>
    </p:spTree>
    <p:extLst>
      <p:ext uri="{BB962C8B-B14F-4D97-AF65-F5344CB8AC3E}">
        <p14:creationId xmlns:p14="http://schemas.microsoft.com/office/powerpoint/2010/main" val="4098327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E257-31EA-76C9-19FB-1486C896991C}"/>
              </a:ext>
            </a:extLst>
          </p:cNvPr>
          <p:cNvSpPr txBox="1"/>
          <p:nvPr/>
        </p:nvSpPr>
        <p:spPr>
          <a:xfrm>
            <a:off x="528637" y="751681"/>
            <a:ext cx="7086600" cy="2308324"/>
          </a:xfrm>
          <a:prstGeom prst="rect">
            <a:avLst/>
          </a:prstGeom>
          <a:noFill/>
        </p:spPr>
        <p:txBody>
          <a:bodyPr wrap="square" rtlCol="0">
            <a:spAutoFit/>
          </a:bodyPr>
          <a:lstStyle/>
          <a:p>
            <a:r>
              <a:rPr lang="en-US" sz="2400" b="1" dirty="0"/>
              <a:t>3 . Monocoque Chassis</a:t>
            </a:r>
            <a:r>
              <a:rPr lang="en-US" sz="2400" dirty="0"/>
              <a:t>: Combines body and frame as a single structural unit, offering lightweight construction and high aerodynamic efficiency. It is widely adopted for passenger EVs but repairs post-accident are costly due to integrated structure.</a:t>
            </a:r>
            <a:endParaRPr lang="en-IN" sz="2400" dirty="0"/>
          </a:p>
          <a:p>
            <a:endParaRPr lang="en-IN" sz="2400" dirty="0"/>
          </a:p>
        </p:txBody>
      </p:sp>
      <p:sp>
        <p:nvSpPr>
          <p:cNvPr id="3" name="TextBox 2">
            <a:extLst>
              <a:ext uri="{FF2B5EF4-FFF2-40B4-BE49-F238E27FC236}">
                <a16:creationId xmlns:a16="http://schemas.microsoft.com/office/drawing/2014/main" id="{396241A9-7F16-3F9B-A4D3-77CB25140AA0}"/>
              </a:ext>
            </a:extLst>
          </p:cNvPr>
          <p:cNvSpPr txBox="1"/>
          <p:nvPr/>
        </p:nvSpPr>
        <p:spPr>
          <a:xfrm>
            <a:off x="551507" y="3994796"/>
            <a:ext cx="6781800" cy="2308324"/>
          </a:xfrm>
          <a:prstGeom prst="rect">
            <a:avLst/>
          </a:prstGeom>
          <a:noFill/>
        </p:spPr>
        <p:txBody>
          <a:bodyPr wrap="square" rtlCol="0">
            <a:spAutoFit/>
          </a:bodyPr>
          <a:lstStyle/>
          <a:p>
            <a:r>
              <a:rPr lang="en-US" sz="2400" b="1" dirty="0"/>
              <a:t>4 . Backbone Chassis</a:t>
            </a:r>
            <a:r>
              <a:rPr lang="en-US" sz="2400" dirty="0"/>
              <a:t>: Features a central strong spine forming the main structural element with components mounted around it. It simplifies design and gives decent rigidity but doesn't optimize crash performance or internal space as well.</a:t>
            </a:r>
            <a:endParaRPr lang="en-IN" sz="2400" dirty="0"/>
          </a:p>
          <a:p>
            <a:endParaRPr lang="en-IN" sz="2400" dirty="0"/>
          </a:p>
        </p:txBody>
      </p:sp>
      <p:pic>
        <p:nvPicPr>
          <p:cNvPr id="5" name="Picture 4">
            <a:extLst>
              <a:ext uri="{FF2B5EF4-FFF2-40B4-BE49-F238E27FC236}">
                <a16:creationId xmlns:a16="http://schemas.microsoft.com/office/drawing/2014/main" id="{C3256E29-4DB2-4CDD-9CA9-59EABB3D40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455326">
            <a:off x="7915642" y="457880"/>
            <a:ext cx="4953001" cy="2569934"/>
          </a:xfrm>
          <a:prstGeom prst="rect">
            <a:avLst/>
          </a:prstGeom>
        </p:spPr>
      </p:pic>
      <p:pic>
        <p:nvPicPr>
          <p:cNvPr id="11" name="Picture 10">
            <a:extLst>
              <a:ext uri="{FF2B5EF4-FFF2-40B4-BE49-F238E27FC236}">
                <a16:creationId xmlns:a16="http://schemas.microsoft.com/office/drawing/2014/main" id="{19A572FD-3EF5-44EE-5D76-A49F6E2558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7227" y="3161001"/>
            <a:ext cx="4365029" cy="4014789"/>
          </a:xfrm>
          <a:prstGeom prst="rect">
            <a:avLst/>
          </a:prstGeom>
        </p:spPr>
      </p:pic>
      <p:sp>
        <p:nvSpPr>
          <p:cNvPr id="12" name="TextBox 11">
            <a:extLst>
              <a:ext uri="{FF2B5EF4-FFF2-40B4-BE49-F238E27FC236}">
                <a16:creationId xmlns:a16="http://schemas.microsoft.com/office/drawing/2014/main" id="{A40CDBCE-CF5B-AD2D-54FF-CBFC044E8393}"/>
              </a:ext>
            </a:extLst>
          </p:cNvPr>
          <p:cNvSpPr txBox="1"/>
          <p:nvPr/>
        </p:nvSpPr>
        <p:spPr>
          <a:xfrm>
            <a:off x="9374256" y="161071"/>
            <a:ext cx="3048000" cy="400110"/>
          </a:xfrm>
          <a:prstGeom prst="rect">
            <a:avLst/>
          </a:prstGeom>
          <a:noFill/>
        </p:spPr>
        <p:txBody>
          <a:bodyPr wrap="square" rtlCol="0">
            <a:spAutoFit/>
          </a:bodyPr>
          <a:lstStyle/>
          <a:p>
            <a:r>
              <a:rPr lang="en-US" sz="2000" b="1" dirty="0"/>
              <a:t>Monocoque Chassis</a:t>
            </a:r>
            <a:endParaRPr lang="en-IN" dirty="0"/>
          </a:p>
        </p:txBody>
      </p:sp>
      <p:sp>
        <p:nvSpPr>
          <p:cNvPr id="13" name="TextBox 12">
            <a:extLst>
              <a:ext uri="{FF2B5EF4-FFF2-40B4-BE49-F238E27FC236}">
                <a16:creationId xmlns:a16="http://schemas.microsoft.com/office/drawing/2014/main" id="{31AF17F5-2EEC-651C-6021-DF6D24262482}"/>
              </a:ext>
            </a:extLst>
          </p:cNvPr>
          <p:cNvSpPr txBox="1"/>
          <p:nvPr/>
        </p:nvSpPr>
        <p:spPr>
          <a:xfrm>
            <a:off x="9291637" y="2859950"/>
            <a:ext cx="2438400" cy="400110"/>
          </a:xfrm>
          <a:prstGeom prst="rect">
            <a:avLst/>
          </a:prstGeom>
          <a:noFill/>
        </p:spPr>
        <p:txBody>
          <a:bodyPr wrap="square" rtlCol="0">
            <a:spAutoFit/>
          </a:bodyPr>
          <a:lstStyle/>
          <a:p>
            <a:r>
              <a:rPr lang="en-US" sz="2000" b="1" dirty="0"/>
              <a:t>Backbone Chassis</a:t>
            </a:r>
            <a:endParaRPr lang="en-IN" dirty="0"/>
          </a:p>
        </p:txBody>
      </p:sp>
      <p:sp>
        <p:nvSpPr>
          <p:cNvPr id="4" name="TextBox 3">
            <a:extLst>
              <a:ext uri="{FF2B5EF4-FFF2-40B4-BE49-F238E27FC236}">
                <a16:creationId xmlns:a16="http://schemas.microsoft.com/office/drawing/2014/main" id="{25899553-D71C-82D6-EBFD-7431D0164AB2}"/>
              </a:ext>
            </a:extLst>
          </p:cNvPr>
          <p:cNvSpPr txBox="1"/>
          <p:nvPr/>
        </p:nvSpPr>
        <p:spPr>
          <a:xfrm>
            <a:off x="6091237" y="6952652"/>
            <a:ext cx="609600" cy="446276"/>
          </a:xfrm>
          <a:prstGeom prst="rect">
            <a:avLst/>
          </a:prstGeom>
          <a:noFill/>
        </p:spPr>
        <p:txBody>
          <a:bodyPr wrap="square" rtlCol="0">
            <a:spAutoFit/>
          </a:bodyPr>
          <a:lstStyle/>
          <a:p>
            <a:r>
              <a:rPr lang="en-US" dirty="0"/>
              <a:t>13</a:t>
            </a:r>
            <a:endParaRPr lang="en-IN" dirty="0"/>
          </a:p>
        </p:txBody>
      </p:sp>
    </p:spTree>
    <p:extLst>
      <p:ext uri="{BB962C8B-B14F-4D97-AF65-F5344CB8AC3E}">
        <p14:creationId xmlns:p14="http://schemas.microsoft.com/office/powerpoint/2010/main" val="889847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CFBCAC-0D19-A883-571D-7373B2C1B187}"/>
              </a:ext>
            </a:extLst>
          </p:cNvPr>
          <p:cNvSpPr txBox="1"/>
          <p:nvPr/>
        </p:nvSpPr>
        <p:spPr>
          <a:xfrm>
            <a:off x="909637" y="838806"/>
            <a:ext cx="11049000" cy="5509200"/>
          </a:xfrm>
          <a:prstGeom prst="rect">
            <a:avLst/>
          </a:prstGeom>
          <a:noFill/>
        </p:spPr>
        <p:txBody>
          <a:bodyPr wrap="square" rtlCol="0">
            <a:spAutoFit/>
          </a:bodyPr>
          <a:lstStyle/>
          <a:p>
            <a:r>
              <a:rPr lang="en-US" sz="4400" b="1" dirty="0"/>
              <a:t>PRINCIPLE OF OPERATION</a:t>
            </a:r>
            <a:r>
              <a:rPr lang="en-US" b="1" dirty="0"/>
              <a:t>: </a:t>
            </a:r>
          </a:p>
          <a:p>
            <a:pPr algn="just"/>
            <a:r>
              <a:rPr lang="en-US" sz="2800" dirty="0"/>
              <a:t>             The working principle of an electric vehicle (EV) is based on converting electrical energy stored in a battery into mechanical energy through an electric motor, which drives the wheels. When the vehicle is turned on and the accelerator pedal is pressed, the battery supplies direct current (DC) electricity to a controller, which regulates the power flow according to the driver's input. This power is then sent to an inverter, which converts DC into alternating current (AC) if required by the motor. The electric motor then uses this electrical energy to produce rotational motion, generating torque to move the vehicle. Unlike internal combustion engine vehicles, EVs do not rely on fuel combustion and produce zero tailpipe emission. </a:t>
            </a:r>
            <a:endParaRPr lang="en-IN" sz="2800" dirty="0"/>
          </a:p>
        </p:txBody>
      </p:sp>
      <p:sp>
        <p:nvSpPr>
          <p:cNvPr id="3" name="TextBox 2">
            <a:extLst>
              <a:ext uri="{FF2B5EF4-FFF2-40B4-BE49-F238E27FC236}">
                <a16:creationId xmlns:a16="http://schemas.microsoft.com/office/drawing/2014/main" id="{FB522B73-806C-77C6-901D-2076DFBC8DE4}"/>
              </a:ext>
            </a:extLst>
          </p:cNvPr>
          <p:cNvSpPr txBox="1"/>
          <p:nvPr/>
        </p:nvSpPr>
        <p:spPr>
          <a:xfrm>
            <a:off x="6243637" y="6923881"/>
            <a:ext cx="533400" cy="446276"/>
          </a:xfrm>
          <a:prstGeom prst="rect">
            <a:avLst/>
          </a:prstGeom>
          <a:noFill/>
        </p:spPr>
        <p:txBody>
          <a:bodyPr wrap="square" rtlCol="0">
            <a:spAutoFit/>
          </a:bodyPr>
          <a:lstStyle/>
          <a:p>
            <a:r>
              <a:rPr lang="en-US" dirty="0"/>
              <a:t>14</a:t>
            </a:r>
            <a:endParaRPr lang="en-IN" dirty="0"/>
          </a:p>
        </p:txBody>
      </p:sp>
    </p:spTree>
    <p:extLst>
      <p:ext uri="{BB962C8B-B14F-4D97-AF65-F5344CB8AC3E}">
        <p14:creationId xmlns:p14="http://schemas.microsoft.com/office/powerpoint/2010/main" val="1598505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26C7C2-B09B-7CF8-93AE-C683E318F3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4637" y="3494881"/>
            <a:ext cx="7924800" cy="3598258"/>
          </a:xfrm>
          <a:prstGeom prst="rect">
            <a:avLst/>
          </a:prstGeom>
        </p:spPr>
      </p:pic>
      <p:sp>
        <p:nvSpPr>
          <p:cNvPr id="3" name="TextBox 2">
            <a:extLst>
              <a:ext uri="{FF2B5EF4-FFF2-40B4-BE49-F238E27FC236}">
                <a16:creationId xmlns:a16="http://schemas.microsoft.com/office/drawing/2014/main" id="{B8ABFDE7-8DC3-BFA6-2718-0A7B9FDC465B}"/>
              </a:ext>
            </a:extLst>
          </p:cNvPr>
          <p:cNvSpPr txBox="1"/>
          <p:nvPr/>
        </p:nvSpPr>
        <p:spPr>
          <a:xfrm>
            <a:off x="1138237" y="447893"/>
            <a:ext cx="10591800" cy="3046988"/>
          </a:xfrm>
          <a:prstGeom prst="rect">
            <a:avLst/>
          </a:prstGeom>
          <a:noFill/>
        </p:spPr>
        <p:txBody>
          <a:bodyPr wrap="square" rtlCol="0">
            <a:spAutoFit/>
          </a:bodyPr>
          <a:lstStyle/>
          <a:p>
            <a:pPr algn="just"/>
            <a:r>
              <a:rPr lang="en-US" sz="2400" dirty="0"/>
              <a:t>          During braking or deceleration, EVs use a process called regenerative braking, where the electric motor works in reverse to convert some of the kinetic energy back into electrical energy, which is stored in the battery. The vehicle is recharged by plugging it into an external power source, and an onboard charger manages the conversion and storage of electricity. Overall, electric vehicles offer a cleaner, quieter, and more energy-efficient alternative to conventional vehicles.  </a:t>
            </a:r>
          </a:p>
          <a:p>
            <a:r>
              <a:rPr lang="en-US" sz="2400" dirty="0"/>
              <a:t>                   Battery → Power Electronics → Electric Motor → Transmission → Wheels</a:t>
            </a:r>
            <a:endParaRPr lang="en-IN" sz="2400" dirty="0"/>
          </a:p>
          <a:p>
            <a:endParaRPr lang="en-IN" sz="2400" dirty="0"/>
          </a:p>
        </p:txBody>
      </p:sp>
      <p:sp>
        <p:nvSpPr>
          <p:cNvPr id="4" name="TextBox 3">
            <a:extLst>
              <a:ext uri="{FF2B5EF4-FFF2-40B4-BE49-F238E27FC236}">
                <a16:creationId xmlns:a16="http://schemas.microsoft.com/office/drawing/2014/main" id="{6829E05D-BBC2-4864-DCD3-DB5B094D0DBB}"/>
              </a:ext>
            </a:extLst>
          </p:cNvPr>
          <p:cNvSpPr txBox="1"/>
          <p:nvPr/>
        </p:nvSpPr>
        <p:spPr>
          <a:xfrm>
            <a:off x="6434137" y="7000081"/>
            <a:ext cx="533400" cy="338554"/>
          </a:xfrm>
          <a:prstGeom prst="rect">
            <a:avLst/>
          </a:prstGeom>
          <a:noFill/>
        </p:spPr>
        <p:txBody>
          <a:bodyPr wrap="square" rtlCol="0">
            <a:spAutoFit/>
          </a:bodyPr>
          <a:lstStyle/>
          <a:p>
            <a:r>
              <a:rPr lang="en-US" sz="1600" dirty="0"/>
              <a:t>15</a:t>
            </a:r>
            <a:endParaRPr lang="en-IN" sz="1600" dirty="0"/>
          </a:p>
        </p:txBody>
      </p:sp>
    </p:spTree>
    <p:extLst>
      <p:ext uri="{BB962C8B-B14F-4D97-AF65-F5344CB8AC3E}">
        <p14:creationId xmlns:p14="http://schemas.microsoft.com/office/powerpoint/2010/main" val="763895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F1E01A-312B-0585-F40F-47CA6C73417C}"/>
              </a:ext>
            </a:extLst>
          </p:cNvPr>
          <p:cNvSpPr txBox="1"/>
          <p:nvPr/>
        </p:nvSpPr>
        <p:spPr>
          <a:xfrm>
            <a:off x="833437" y="523081"/>
            <a:ext cx="11430000" cy="7109639"/>
          </a:xfrm>
          <a:prstGeom prst="rect">
            <a:avLst/>
          </a:prstGeom>
          <a:noFill/>
        </p:spPr>
        <p:txBody>
          <a:bodyPr wrap="square" rtlCol="0">
            <a:spAutoFit/>
          </a:bodyPr>
          <a:lstStyle/>
          <a:p>
            <a:r>
              <a:rPr lang="en-US" sz="2400" b="1" dirty="0"/>
              <a:t>Merits of the EV’s:</a:t>
            </a:r>
          </a:p>
          <a:p>
            <a:pPr marL="342900" indent="-342900">
              <a:buFont typeface="Arial" panose="020B0604020202020204" pitchFamily="34" charset="0"/>
              <a:buChar char="•"/>
            </a:pPr>
            <a:r>
              <a:rPr lang="en-US" sz="2400" dirty="0"/>
              <a:t> Zero tailpipe emissions → no CO₂, NOx, or particulate matter during operation . Helps reduce air pollution in cities . Supports the shift to clean energy when charged from renewable sources.</a:t>
            </a:r>
          </a:p>
          <a:p>
            <a:pPr marL="342900" indent="-342900">
              <a:buFont typeface="Arial" panose="020B0604020202020204" pitchFamily="34" charset="0"/>
              <a:buChar char="•"/>
            </a:pPr>
            <a:r>
              <a:rPr lang="en-US" sz="2400" dirty="0"/>
              <a:t> Energy Efficiency EVs convert about 85–90% of electrical energy into motion, compared to only ~30–35% for Internal Combustion Engines (ICE).Regenerative braking recovers energy that would otherwise be lost as heat.</a:t>
            </a:r>
          </a:p>
          <a:p>
            <a:pPr marL="342900" indent="-342900">
              <a:buFont typeface="Arial" panose="020B0604020202020204" pitchFamily="34" charset="0"/>
              <a:buChar char="•"/>
            </a:pPr>
            <a:r>
              <a:rPr lang="en-US" sz="2400" dirty="0"/>
              <a:t> Lower Operating Cost Electricity is generally cheaper than petrol or diesel . Fewer moving parts → reduced maintenance cost (no oil changes, fewer mechanical failures).</a:t>
            </a:r>
          </a:p>
          <a:p>
            <a:pPr marL="342900" indent="-342900">
              <a:buFont typeface="Arial" panose="020B0604020202020204" pitchFamily="34" charset="0"/>
              <a:buChar char="•"/>
            </a:pPr>
            <a:r>
              <a:rPr lang="en-US" sz="2400" dirty="0"/>
              <a:t>Performance Advantages Instant torque → smooth and quick acceleration . Quiet operation → reduced noise pollution . Lower center of gravity (due to battery placement) → better stability and handling.</a:t>
            </a:r>
          </a:p>
          <a:p>
            <a:pPr marL="342900" indent="-342900">
              <a:buFont typeface="Arial" panose="020B0604020202020204" pitchFamily="34" charset="0"/>
              <a:buChar char="•"/>
            </a:pPr>
            <a:r>
              <a:rPr lang="en-US" sz="2400" dirty="0"/>
              <a:t> Energy Independence Reduces dependency on fossil fuels . Promotes use of domestically produced renewable energy (solar, wind, hydro).</a:t>
            </a:r>
          </a:p>
          <a:p>
            <a:pPr marL="342900" indent="-342900">
              <a:buFont typeface="Arial" panose="020B0604020202020204" pitchFamily="34" charset="0"/>
              <a:buChar char="•"/>
            </a:pPr>
            <a:r>
              <a:rPr lang="en-US" sz="2400" dirty="0"/>
              <a:t> Technological Integration Smart connectivity with apps for monitoring battery, charging, and navigation . Integration with smart grids and potential for Vehicle-to-Grid (V2G) applications.</a:t>
            </a:r>
          </a:p>
          <a:p>
            <a:endParaRPr lang="en-US" sz="2400" b="1" dirty="0"/>
          </a:p>
          <a:p>
            <a:endParaRPr lang="en-IN" sz="2400" b="1" dirty="0"/>
          </a:p>
        </p:txBody>
      </p:sp>
      <p:sp>
        <p:nvSpPr>
          <p:cNvPr id="9" name="TextBox 8">
            <a:extLst>
              <a:ext uri="{FF2B5EF4-FFF2-40B4-BE49-F238E27FC236}">
                <a16:creationId xmlns:a16="http://schemas.microsoft.com/office/drawing/2014/main" id="{E518351F-3809-3FD4-41AA-6C65DEBCA4D8}"/>
              </a:ext>
            </a:extLst>
          </p:cNvPr>
          <p:cNvSpPr txBox="1"/>
          <p:nvPr/>
        </p:nvSpPr>
        <p:spPr>
          <a:xfrm>
            <a:off x="6396037" y="6923881"/>
            <a:ext cx="685800" cy="400110"/>
          </a:xfrm>
          <a:prstGeom prst="rect">
            <a:avLst/>
          </a:prstGeom>
          <a:noFill/>
        </p:spPr>
        <p:txBody>
          <a:bodyPr wrap="square" rtlCol="0">
            <a:spAutoFit/>
          </a:bodyPr>
          <a:lstStyle/>
          <a:p>
            <a:r>
              <a:rPr lang="en-US" sz="2000" dirty="0"/>
              <a:t>16</a:t>
            </a:r>
            <a:endParaRPr lang="en-IN" sz="2000" dirty="0"/>
          </a:p>
        </p:txBody>
      </p:sp>
    </p:spTree>
    <p:extLst>
      <p:ext uri="{BB962C8B-B14F-4D97-AF65-F5344CB8AC3E}">
        <p14:creationId xmlns:p14="http://schemas.microsoft.com/office/powerpoint/2010/main" val="517082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3063C3-7566-61F3-CF4A-BA9ABE0A1459}"/>
              </a:ext>
            </a:extLst>
          </p:cNvPr>
          <p:cNvSpPr txBox="1"/>
          <p:nvPr/>
        </p:nvSpPr>
        <p:spPr>
          <a:xfrm>
            <a:off x="6392530" y="6923881"/>
            <a:ext cx="533400" cy="446276"/>
          </a:xfrm>
          <a:prstGeom prst="rect">
            <a:avLst/>
          </a:prstGeom>
          <a:noFill/>
        </p:spPr>
        <p:txBody>
          <a:bodyPr wrap="square" rtlCol="0">
            <a:spAutoFit/>
          </a:bodyPr>
          <a:lstStyle/>
          <a:p>
            <a:r>
              <a:rPr lang="en-US" dirty="0"/>
              <a:t>17</a:t>
            </a:r>
            <a:endParaRPr lang="en-IN" dirty="0"/>
          </a:p>
        </p:txBody>
      </p:sp>
      <p:sp>
        <p:nvSpPr>
          <p:cNvPr id="3" name="TextBox 2">
            <a:extLst>
              <a:ext uri="{FF2B5EF4-FFF2-40B4-BE49-F238E27FC236}">
                <a16:creationId xmlns:a16="http://schemas.microsoft.com/office/drawing/2014/main" id="{AE246B3D-8E2D-3818-E4A7-E5082D64F5C8}"/>
              </a:ext>
            </a:extLst>
          </p:cNvPr>
          <p:cNvSpPr txBox="1"/>
          <p:nvPr/>
        </p:nvSpPr>
        <p:spPr>
          <a:xfrm>
            <a:off x="757237" y="337727"/>
            <a:ext cx="11201400" cy="6001643"/>
          </a:xfrm>
          <a:prstGeom prst="rect">
            <a:avLst/>
          </a:prstGeom>
          <a:noFill/>
        </p:spPr>
        <p:txBody>
          <a:bodyPr wrap="square" rtlCol="0">
            <a:spAutoFit/>
          </a:bodyPr>
          <a:lstStyle/>
          <a:p>
            <a:r>
              <a:rPr lang="en-US" sz="2400" b="1" dirty="0"/>
              <a:t>Demerits of EV’s:</a:t>
            </a:r>
          </a:p>
          <a:p>
            <a:pPr marL="342900" indent="-342900">
              <a:buFont typeface="Arial" panose="020B0604020202020204" pitchFamily="34" charset="0"/>
              <a:buChar char="•"/>
            </a:pPr>
            <a:r>
              <a:rPr lang="en-US" sz="2400" dirty="0"/>
              <a:t>High Initial </a:t>
            </a:r>
            <a:r>
              <a:rPr lang="en-US" sz="2400" dirty="0" err="1"/>
              <a:t>CostEVs</a:t>
            </a:r>
            <a:r>
              <a:rPr lang="en-US" sz="2400" dirty="0"/>
              <a:t> are generally more expensive than Internal Combustion Engine (ICE) vehicles due to battery </a:t>
            </a:r>
            <a:r>
              <a:rPr lang="en-US" sz="2400" dirty="0" err="1"/>
              <a:t>costs.Though</a:t>
            </a:r>
            <a:r>
              <a:rPr lang="en-US" sz="2400" dirty="0"/>
              <a:t> prices are falling, the upfront investment is still a barrier for many buyers.</a:t>
            </a:r>
          </a:p>
          <a:p>
            <a:pPr marL="342900" indent="-342900">
              <a:buFont typeface="Arial" panose="020B0604020202020204" pitchFamily="34" charset="0"/>
              <a:buChar char="•"/>
            </a:pPr>
            <a:r>
              <a:rPr lang="en-US" sz="2400" dirty="0"/>
              <a:t> Limited Driving </a:t>
            </a:r>
            <a:r>
              <a:rPr lang="en-US" sz="2400" dirty="0" err="1"/>
              <a:t>RangeEVs</a:t>
            </a:r>
            <a:r>
              <a:rPr lang="en-US" sz="2400" dirty="0"/>
              <a:t> usually have a shorter range compared to petrol/diesel </a:t>
            </a:r>
            <a:r>
              <a:rPr lang="en-US" sz="2400" dirty="0" err="1"/>
              <a:t>vehicles.“Range</a:t>
            </a:r>
            <a:r>
              <a:rPr lang="en-US" sz="2400" dirty="0"/>
              <a:t> anxiety” (fear of running out of charge before reaching a charging station) is a common issue.</a:t>
            </a:r>
          </a:p>
          <a:p>
            <a:pPr marL="342900" indent="-342900">
              <a:buFont typeface="Arial" panose="020B0604020202020204" pitchFamily="34" charset="0"/>
              <a:buChar char="•"/>
            </a:pPr>
            <a:r>
              <a:rPr lang="en-US" sz="2400" dirty="0"/>
              <a:t> Charging </a:t>
            </a:r>
            <a:r>
              <a:rPr lang="en-US" sz="2400" dirty="0" err="1"/>
              <a:t>InfrastructureLack</a:t>
            </a:r>
            <a:r>
              <a:rPr lang="en-US" sz="2400" dirty="0"/>
              <a:t> of widespread charging stations in many </a:t>
            </a:r>
            <a:r>
              <a:rPr lang="en-US" sz="2400" dirty="0" err="1"/>
              <a:t>areas.Charging</a:t>
            </a:r>
            <a:r>
              <a:rPr lang="en-US" sz="2400" dirty="0"/>
              <a:t> takes longer than refueling at a petrol station (even with fast chargers, it’s not instant).</a:t>
            </a:r>
          </a:p>
          <a:p>
            <a:pPr marL="342900" indent="-342900">
              <a:buFont typeface="Arial" panose="020B0604020202020204" pitchFamily="34" charset="0"/>
              <a:buChar char="•"/>
            </a:pPr>
            <a:r>
              <a:rPr lang="en-US" sz="2400" dirty="0"/>
              <a:t> Charging </a:t>
            </a:r>
            <a:r>
              <a:rPr lang="en-US" sz="2400" dirty="0" err="1"/>
              <a:t>TimeStandard</a:t>
            </a:r>
            <a:r>
              <a:rPr lang="en-US" sz="2400" dirty="0"/>
              <a:t> home charging can take 6–12 </a:t>
            </a:r>
            <a:r>
              <a:rPr lang="en-US" sz="2400" dirty="0" err="1"/>
              <a:t>hours.Fast</a:t>
            </a:r>
            <a:r>
              <a:rPr lang="en-US" sz="2400" dirty="0"/>
              <a:t> chargers reduce this but can still take 30–60 minutes to get ~80% charge.</a:t>
            </a:r>
          </a:p>
          <a:p>
            <a:pPr marL="342900" indent="-342900">
              <a:buFont typeface="Arial" panose="020B0604020202020204" pitchFamily="34" charset="0"/>
              <a:buChar char="•"/>
            </a:pPr>
            <a:r>
              <a:rPr lang="en-US" sz="2400" dirty="0"/>
              <a:t>Battery </a:t>
            </a:r>
            <a:r>
              <a:rPr lang="en-US" sz="2400" dirty="0" err="1"/>
              <a:t>IssuesHigh</a:t>
            </a:r>
            <a:r>
              <a:rPr lang="en-US" sz="2400" dirty="0"/>
              <a:t> battery replacement cost (though rare within warranty period).Battery degradation over time reduces range and </a:t>
            </a:r>
            <a:r>
              <a:rPr lang="en-US" sz="2400" dirty="0" err="1"/>
              <a:t>performance.Concerns</a:t>
            </a:r>
            <a:r>
              <a:rPr lang="en-US" sz="2400" dirty="0"/>
              <a:t> over battery recycling and disposal (environmental challenge).</a:t>
            </a:r>
          </a:p>
          <a:p>
            <a:pPr marL="342900" indent="-342900">
              <a:buFont typeface="Arial" panose="020B0604020202020204" pitchFamily="34" charset="0"/>
              <a:buChar char="•"/>
            </a:pPr>
            <a:r>
              <a:rPr lang="en-US" sz="2400" dirty="0"/>
              <a:t>Limited Model </a:t>
            </a:r>
            <a:r>
              <a:rPr lang="en-US" sz="2400" dirty="0" err="1"/>
              <a:t>AvailabilityFewer</a:t>
            </a:r>
            <a:r>
              <a:rPr lang="en-US" sz="2400" dirty="0"/>
              <a:t> model choices compared to ICE vehicles, especially in lower price segments or specific vehicle types (e.g., trucks, buses in some regions).</a:t>
            </a:r>
            <a:endParaRPr lang="en-IN" sz="2400" dirty="0"/>
          </a:p>
        </p:txBody>
      </p:sp>
    </p:spTree>
    <p:extLst>
      <p:ext uri="{BB962C8B-B14F-4D97-AF65-F5344CB8AC3E}">
        <p14:creationId xmlns:p14="http://schemas.microsoft.com/office/powerpoint/2010/main" val="3309401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A54DF-4C6D-2356-8BAE-E13713A01DA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38A6BE4-F949-E2A3-D4DD-1287D99789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3249275" cy="7381081"/>
          </a:xfrm>
          <a:prstGeom prst="rect">
            <a:avLst/>
          </a:prstGeom>
        </p:spPr>
      </p:pic>
      <p:sp>
        <p:nvSpPr>
          <p:cNvPr id="2" name="Date Placeholder 1">
            <a:extLst>
              <a:ext uri="{FF2B5EF4-FFF2-40B4-BE49-F238E27FC236}">
                <a16:creationId xmlns:a16="http://schemas.microsoft.com/office/drawing/2014/main" id="{F650C3CF-5CD6-F33A-30D7-2AF8BF2C733A}"/>
              </a:ext>
            </a:extLst>
          </p:cNvPr>
          <p:cNvSpPr>
            <a:spLocks noGrp="1"/>
          </p:cNvSpPr>
          <p:nvPr>
            <p:ph type="dt" sz="half" idx="10"/>
          </p:nvPr>
        </p:nvSpPr>
        <p:spPr>
          <a:xfrm>
            <a:off x="376237" y="6922824"/>
            <a:ext cx="2895600" cy="305857"/>
          </a:xfrm>
        </p:spPr>
        <p:txBody>
          <a:bodyPr/>
          <a:lstStyle/>
          <a:p>
            <a:r>
              <a:rPr lang="en-US" sz="1600"/>
              <a:t>02/09/2025</a:t>
            </a:r>
            <a:endParaRPr lang="en-US" sz="1600" dirty="0"/>
          </a:p>
        </p:txBody>
      </p:sp>
      <p:sp>
        <p:nvSpPr>
          <p:cNvPr id="4" name="Slide Number Placeholder 3">
            <a:extLst>
              <a:ext uri="{FF2B5EF4-FFF2-40B4-BE49-F238E27FC236}">
                <a16:creationId xmlns:a16="http://schemas.microsoft.com/office/drawing/2014/main" id="{E11CE621-FDEF-773A-3E0F-2FFB53A2DF17}"/>
              </a:ext>
            </a:extLst>
          </p:cNvPr>
          <p:cNvSpPr>
            <a:spLocks noGrp="1"/>
          </p:cNvSpPr>
          <p:nvPr>
            <p:ph type="sldNum" sz="quarter" idx="12"/>
          </p:nvPr>
        </p:nvSpPr>
        <p:spPr>
          <a:xfrm>
            <a:off x="5938837" y="6944029"/>
            <a:ext cx="3091498" cy="437052"/>
          </a:xfrm>
        </p:spPr>
        <p:txBody>
          <a:bodyPr/>
          <a:lstStyle/>
          <a:p>
            <a:fld id="{B6F15528-21DE-4FAA-801E-634DDDAF4B2B}" type="slidenum">
              <a:rPr lang="en-US" smtClean="0"/>
              <a:pPr/>
              <a:t>18</a:t>
            </a:fld>
            <a:endParaRPr lang="en-US" dirty="0"/>
          </a:p>
        </p:txBody>
      </p:sp>
    </p:spTree>
    <p:extLst>
      <p:ext uri="{BB962C8B-B14F-4D97-AF65-F5344CB8AC3E}">
        <p14:creationId xmlns:p14="http://schemas.microsoft.com/office/powerpoint/2010/main" val="2711191253"/>
      </p:ext>
    </p:extLst>
  </p:cSld>
  <p:clrMapOvr>
    <a:masterClrMapping/>
  </p:clrMapOvr>
</p:sld>
</file>

<file path=ppt/theme/theme1.xml><?xml version="1.0" encoding="utf-8"?>
<a:theme xmlns:a="http://schemas.openxmlformats.org/drawingml/2006/main" name="DIE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DIET</Template>
  <TotalTime>895</TotalTime>
  <Words>1872</Words>
  <Application>Microsoft Office PowerPoint</Application>
  <PresentationFormat>Custom</PresentationFormat>
  <Paragraphs>141</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Wingdings</vt:lpstr>
      <vt:lpstr>DIET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Dr.M ARUNA</dc:creator>
  <cp:lastModifiedBy>Mounika Rayapalli</cp:lastModifiedBy>
  <cp:revision>98</cp:revision>
  <dcterms:created xsi:type="dcterms:W3CDTF">2006-08-16T00:00:00Z</dcterms:created>
  <dcterms:modified xsi:type="dcterms:W3CDTF">2025-09-07T14:35:53Z</dcterms:modified>
</cp:coreProperties>
</file>